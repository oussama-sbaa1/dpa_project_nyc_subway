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7562850" cy="10688638"/>
  <p:notesSz cx="10688638" cy="756285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701B0F-5259-45AD-835C-48049ABDAA61}" v="590" dt="2026-10-18T10:34:57.7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308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1652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4_PAGE">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6647688" cy="685800"/>
          </a:xfrm>
          <a:prstGeom prst="rect">
            <a:avLst/>
          </a:prstGeom>
          <a:noFill/>
          <a:ln/>
        </p:spPr>
        <p:txBody>
          <a:bodyPr wrap="square" rtlCol="0"/>
          <a:lstStyle>
            <a:lvl1pPr marL="0" indent="0" algn="l">
              <a:buNone/>
              <a:defRPr lang="en-US" sz="1900" b="1" dirty="0">
                <a:solidFill>
                  <a:schemeClr val="tx1"/>
                </a:solidFill>
              </a:defRPr>
            </a:lvl1pPr>
          </a:lstStyle>
          <a:p>
            <a:pPr marL="0" indent="0" algn="l">
              <a:buNone/>
            </a:pPr>
            <a:endParaRPr lang="en-US" sz="19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data.ny.gov/d/39hk-dx4f" TargetMode="External"/><Relationship Id="rId3" Type="http://schemas.openxmlformats.org/officeDocument/2006/relationships/hyperlink" Target="https://data.ny.gov/d/wujg-7c2s" TargetMode="External"/><Relationship Id="rId7" Type="http://schemas.openxmlformats.org/officeDocument/2006/relationships/hyperlink" Target="https://www.ncei.noaa.gov/access/metadata/landing-page/bin/iso?id=gov.noaa.ncdc:C00684"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www.ncei.noaa.gov/access/services/data/v1?dataset=local-climatological-data-v2&amp;stations=USW00094728&amp;startDate=2024-07-01&amp;endDate=2024-07-31&amp;format=csv" TargetMode="External"/><Relationship Id="rId5" Type="http://schemas.openxmlformats.org/officeDocument/2006/relationships/hyperlink" Target="https://data.ny.gov/d/5wq4-mkjj" TargetMode="External"/><Relationship Id="rId4" Type="http://schemas.openxmlformats.org/officeDocument/2006/relationships/hyperlink" Target="https://data.ny.gov/dataset/OPEN-NY-Terms-Of-Use/77gx-ii52" TargetMode="External"/><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25344" y="50505"/>
            <a:ext cx="6647688" cy="685800"/>
          </a:xfrm>
          <a:prstGeom prst="rect">
            <a:avLst/>
          </a:prstGeom>
          <a:noFill/>
          <a:ln/>
        </p:spPr>
        <p:txBody>
          <a:bodyPr wrap="square" lIns="0" tIns="0" rIns="0" bIns="0" rtlCol="0" anchor="ctr"/>
          <a:lstStyle/>
          <a:p>
            <a:pPr marL="0" indent="0" algn="ctr">
              <a:buNone/>
            </a:pPr>
            <a:r>
              <a:rPr lang="en-US" sz="2000" b="1" dirty="0">
                <a:solidFill>
                  <a:schemeClr val="tx1"/>
                </a:solidFill>
                <a:latin typeface="+mn-lt"/>
              </a:rPr>
              <a:t>Critical Stations and Live Disruptions in the New York City Subway</a:t>
            </a:r>
            <a:endParaRPr lang="en-US" sz="2000" dirty="0">
              <a:latin typeface="+mn-lt"/>
            </a:endParaRPr>
          </a:p>
        </p:txBody>
      </p:sp>
      <p:sp>
        <p:nvSpPr>
          <p:cNvPr id="4" name="Text 2"/>
          <p:cNvSpPr txBox="1"/>
          <p:nvPr/>
        </p:nvSpPr>
        <p:spPr>
          <a:xfrm>
            <a:off x="128186" y="2126418"/>
            <a:ext cx="7434661" cy="338287"/>
          </a:xfrm>
          <a:prstGeom prst="rect">
            <a:avLst/>
          </a:prstGeom>
          <a:noFill/>
          <a:ln/>
        </p:spPr>
        <p:txBody>
          <a:bodyPr wrap="square" lIns="0" tIns="0" rIns="0" bIns="0" rtlCol="0" anchor="t"/>
          <a:lstStyle/>
          <a:p>
            <a:pPr marL="0" indent="0" algn="l">
              <a:buNone/>
            </a:pPr>
            <a:r>
              <a:rPr lang="en-US" sz="1600" b="1" u="sng" dirty="0">
                <a:solidFill>
                  <a:schemeClr val="tx1"/>
                </a:solidFill>
              </a:rPr>
              <a:t>1/ Domain</a:t>
            </a:r>
            <a:r>
              <a:rPr lang="en-US" sz="1600" b="1" u="sng" dirty="0"/>
              <a:t> , Overarching Question and Part 1 Sub-Question: </a:t>
            </a:r>
          </a:p>
        </p:txBody>
      </p:sp>
      <p:sp>
        <p:nvSpPr>
          <p:cNvPr id="12" name="Text 10"/>
          <p:cNvSpPr txBox="1"/>
          <p:nvPr/>
        </p:nvSpPr>
        <p:spPr>
          <a:xfrm>
            <a:off x="128185" y="3514866"/>
            <a:ext cx="7434663" cy="567289"/>
          </a:xfrm>
          <a:prstGeom prst="rect">
            <a:avLst/>
          </a:prstGeom>
          <a:noFill/>
          <a:ln/>
        </p:spPr>
        <p:txBody>
          <a:bodyPr wrap="square" lIns="0" tIns="0" rIns="0" bIns="0" rtlCol="0" anchor="ctr"/>
          <a:lstStyle/>
          <a:p>
            <a:pPr marL="0" indent="0" algn="l">
              <a:buNone/>
            </a:pPr>
            <a:r>
              <a:rPr lang="en-US" sz="1600" b="1" u="sng" dirty="0">
                <a:solidFill>
                  <a:schemeClr val="tx1"/>
                </a:solidFill>
              </a:rPr>
              <a:t>2/ Datasets sources for each part: links, sizes and licenses</a:t>
            </a:r>
            <a:r>
              <a:rPr lang="en-US" sz="1600" b="1" u="sng" dirty="0"/>
              <a:t>.</a:t>
            </a:r>
            <a:r>
              <a:rPr lang="en-US" sz="1600" b="1" u="sng" dirty="0">
                <a:solidFill>
                  <a:schemeClr val="tx1"/>
                </a:solidFill>
              </a:rPr>
              <a:t> How the data is joined for part 1 and Why Spark ? :</a:t>
            </a:r>
            <a:endParaRPr lang="en-US" sz="1600" u="sng" dirty="0"/>
          </a:p>
        </p:txBody>
      </p:sp>
      <p:graphicFrame>
        <p:nvGraphicFramePr>
          <p:cNvPr id="13" name="Table 0"/>
          <p:cNvGraphicFramePr>
            <a:graphicFrameLocks noGrp="1"/>
          </p:cNvGraphicFramePr>
          <p:nvPr>
            <p:extLst>
              <p:ext uri="{D42A27DB-BD31-4B8C-83A1-F6EECF244321}">
                <p14:modId xmlns:p14="http://schemas.microsoft.com/office/powerpoint/2010/main" val="643533661"/>
              </p:ext>
            </p:extLst>
          </p:nvPr>
        </p:nvGraphicFramePr>
        <p:xfrm>
          <a:off x="128185" y="4420202"/>
          <a:ext cx="7279781" cy="2132857"/>
        </p:xfrm>
        <a:graphic>
          <a:graphicData uri="http://schemas.openxmlformats.org/drawingml/2006/table">
            <a:tbl>
              <a:tblPr/>
              <a:tblGrid>
                <a:gridCol w="2258130">
                  <a:extLst>
                    <a:ext uri="{9D8B030D-6E8A-4147-A177-3AD203B41FA5}">
                      <a16:colId xmlns:a16="http://schemas.microsoft.com/office/drawing/2014/main" val="20001"/>
                    </a:ext>
                  </a:extLst>
                </a:gridCol>
                <a:gridCol w="2043069">
                  <a:extLst>
                    <a:ext uri="{9D8B030D-6E8A-4147-A177-3AD203B41FA5}">
                      <a16:colId xmlns:a16="http://schemas.microsoft.com/office/drawing/2014/main" val="20002"/>
                    </a:ext>
                  </a:extLst>
                </a:gridCol>
                <a:gridCol w="1666716">
                  <a:extLst>
                    <a:ext uri="{9D8B030D-6E8A-4147-A177-3AD203B41FA5}">
                      <a16:colId xmlns:a16="http://schemas.microsoft.com/office/drawing/2014/main" val="20003"/>
                    </a:ext>
                  </a:extLst>
                </a:gridCol>
                <a:gridCol w="1311866">
                  <a:extLst>
                    <a:ext uri="{9D8B030D-6E8A-4147-A177-3AD203B41FA5}">
                      <a16:colId xmlns:a16="http://schemas.microsoft.com/office/drawing/2014/main" val="20004"/>
                    </a:ext>
                  </a:extLst>
                </a:gridCol>
              </a:tblGrid>
              <a:tr h="385751">
                <a:tc>
                  <a:txBody>
                    <a:bodyPr/>
                    <a:lstStyle/>
                    <a:p>
                      <a:pPr marL="0" indent="0" algn="ctr">
                        <a:buNone/>
                      </a:pPr>
                      <a:r>
                        <a:rPr lang="en-US" sz="1400" b="1" dirty="0">
                          <a:solidFill>
                            <a:schemeClr val="bg1"/>
                          </a:solidFill>
                        </a:rPr>
                        <a:t>Dataset</a:t>
                      </a:r>
                      <a:endParaRPr lang="en-US" sz="14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7030A0"/>
                    </a:solidFill>
                  </a:tcPr>
                </a:tc>
                <a:tc>
                  <a:txBody>
                    <a:bodyPr/>
                    <a:lstStyle/>
                    <a:p>
                      <a:pPr marL="0" indent="0" algn="ctr">
                        <a:buNone/>
                      </a:pPr>
                      <a:r>
                        <a:rPr lang="en-US" sz="1400" b="1" dirty="0">
                          <a:solidFill>
                            <a:schemeClr val="bg1"/>
                          </a:solidFill>
                        </a:rPr>
                        <a:t>Link</a:t>
                      </a:r>
                      <a:endParaRPr lang="en-US" sz="14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7030A0"/>
                    </a:solidFill>
                  </a:tcPr>
                </a:tc>
                <a:tc>
                  <a:txBody>
                    <a:bodyPr/>
                    <a:lstStyle/>
                    <a:p>
                      <a:pPr marL="0" indent="0" algn="ctr">
                        <a:buNone/>
                      </a:pPr>
                      <a:r>
                        <a:rPr lang="en-US" sz="1400" b="1" dirty="0">
                          <a:solidFill>
                            <a:schemeClr val="bg1"/>
                          </a:solidFill>
                        </a:rPr>
                        <a:t>Size of what we take</a:t>
                      </a:r>
                      <a:endParaRPr lang="en-US" sz="14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7030A0"/>
                    </a:solidFill>
                  </a:tcPr>
                </a:tc>
                <a:tc>
                  <a:txBody>
                    <a:bodyPr/>
                    <a:lstStyle/>
                    <a:p>
                      <a:pPr marL="0" indent="0" algn="ctr">
                        <a:buNone/>
                      </a:pPr>
                      <a:r>
                        <a:rPr lang="en-US" sz="1400" b="1" dirty="0">
                          <a:solidFill>
                            <a:schemeClr val="bg1"/>
                          </a:solidFill>
                        </a:rPr>
                        <a:t>Licence</a:t>
                      </a:r>
                      <a:endParaRPr lang="en-US" sz="14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336921">
                <a:tc>
                  <a:txBody>
                    <a:bodyPr/>
                    <a:lstStyle/>
                    <a:p>
                      <a:pPr marL="0" indent="0">
                        <a:buNone/>
                      </a:pPr>
                      <a:r>
                        <a:rPr lang="en-US" sz="1100" dirty="0">
                          <a:solidFill>
                            <a:schemeClr val="tx1"/>
                          </a:solidFill>
                        </a:rPr>
                        <a:t>MTA Subway Hourly Ridership: 2020–2024</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100" u="sng" dirty="0">
                          <a:solidFill>
                            <a:schemeClr val="accent6"/>
                          </a:solidFill>
                          <a:hlinkClick r:id="rId3" tooltip="https://data.ny.gov/d/wujg-7c2s">
                            <a:extLst>
                              <a:ext uri="{A12FA001-AC4F-418D-AE19-62706E023703}">
                                <ahyp:hlinkClr xmlns:ahyp="http://schemas.microsoft.com/office/drawing/2018/hyperlinkcolor" val="tx"/>
                              </a:ext>
                            </a:extLst>
                          </a:hlinkClick>
                        </a:rPr>
                        <a:t>data.ny.gov/d/wujg-7c2s</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Jul–Dec 2024</a:t>
                      </a:r>
                      <a:endParaRPr lang="en-US" sz="1100" dirty="0"/>
                    </a:p>
                    <a:p>
                      <a:pPr marL="0" indent="0">
                        <a:buNone/>
                      </a:pPr>
                      <a:r>
                        <a:rPr lang="en-US" sz="1100" b="1" dirty="0">
                          <a:solidFill>
                            <a:schemeClr val="tx1"/>
                          </a:solidFill>
                        </a:rPr>
                        <a:t>14.0 M rows · 2.43 GB</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100" u="sng" dirty="0">
                          <a:solidFill>
                            <a:schemeClr val="accent6"/>
                          </a:solidFill>
                          <a:hlinkClick r:id="rId4" tooltip="https://data.ny.gov/dataset/OPEN-NY-Terms-Of-Use/77gx-ii52">
                            <a:extLst>
                              <a:ext uri="{A12FA001-AC4F-418D-AE19-62706E023703}">
                                <ahyp:hlinkClr xmlns:ahyp="http://schemas.microsoft.com/office/drawing/2018/hyperlinkcolor" val="tx"/>
                              </a:ext>
                            </a:extLst>
                          </a:hlinkClick>
                        </a:rPr>
                        <a:t>OPEN-NY</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36921">
                <a:tc>
                  <a:txBody>
                    <a:bodyPr/>
                    <a:lstStyle/>
                    <a:p>
                      <a:pPr marL="0" indent="0">
                        <a:buNone/>
                      </a:pPr>
                      <a:r>
                        <a:rPr lang="en-US" sz="1100" dirty="0">
                          <a:solidFill>
                            <a:schemeClr val="tx1"/>
                          </a:solidFill>
                        </a:rPr>
                        <a:t>MTA Subway Hourly Ridership: Beginning 2025</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100" u="sng" dirty="0">
                          <a:solidFill>
                            <a:schemeClr val="accent6"/>
                          </a:solidFill>
                          <a:hlinkClick r:id="rId5" tooltip="https://data.ny.gov/d/5wq4-mkjj">
                            <a:extLst>
                              <a:ext uri="{A12FA001-AC4F-418D-AE19-62706E023703}">
                                <ahyp:hlinkClr xmlns:ahyp="http://schemas.microsoft.com/office/drawing/2018/hyperlinkcolor" val="tx"/>
                              </a:ext>
                            </a:extLst>
                          </a:hlinkClick>
                        </a:rPr>
                        <a:t>data.ny.gov/d/5wq4-mkjj</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Jan–Jun 2025</a:t>
                      </a:r>
                      <a:endParaRPr lang="en-US" sz="1100" dirty="0"/>
                    </a:p>
                    <a:p>
                      <a:pPr marL="0" indent="0">
                        <a:buNone/>
                      </a:pPr>
                      <a:r>
                        <a:rPr lang="en-US" sz="1100" b="1" dirty="0">
                          <a:solidFill>
                            <a:schemeClr val="tx1"/>
                          </a:solidFill>
                        </a:rPr>
                        <a:t>15.4 M rows · 2.65 GB</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100" u="sng" dirty="0">
                          <a:solidFill>
                            <a:schemeClr val="accent6"/>
                          </a:solidFill>
                          <a:hlinkClick r:id="rId4" tooltip="https://data.ny.gov/dataset/OPEN-NY-Terms-Of-Use/77gx-ii52">
                            <a:extLst>
                              <a:ext uri="{A12FA001-AC4F-418D-AE19-62706E023703}">
                                <ahyp:hlinkClr xmlns:ahyp="http://schemas.microsoft.com/office/drawing/2018/hyperlinkcolor" val="tx"/>
                              </a:ext>
                            </a:extLst>
                          </a:hlinkClick>
                        </a:rPr>
                        <a:t>OPEN-NY</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83409">
                <a:tc>
                  <a:txBody>
                    <a:bodyPr/>
                    <a:lstStyle/>
                    <a:p>
                      <a:pPr marL="0" indent="0">
                        <a:buNone/>
                      </a:pPr>
                      <a:r>
                        <a:rPr lang="en-US" sz="1100" dirty="0">
                          <a:solidFill>
                            <a:schemeClr val="tx1"/>
                          </a:solidFill>
                        </a:rPr>
                        <a:t>NOAA Local Climatological Data v2, Central Park (USW00094728)</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100" u="sng" dirty="0">
                          <a:solidFill>
                            <a:schemeClr val="accent6"/>
                          </a:solidFill>
                          <a:hlinkClick r:id="rId6" tooltip="https://www.ncei.noaa.gov/access/services/data/v1?dataset=local-climatological-data-v2&amp;stations=USW00094728&amp;startDate=2024-07-01&amp;endDate=2024-07-31&amp;format=csv">
                            <a:extLst>
                              <a:ext uri="{A12FA001-AC4F-418D-AE19-62706E023703}">
                                <ahyp:hlinkClr xmlns:ahyp="http://schemas.microsoft.com/office/drawing/2018/hyperlinkcolor" val="tx"/>
                              </a:ext>
                            </a:extLst>
                          </a:hlinkClick>
                        </a:rPr>
                        <a:t>ncei.noaa.gov (LCD v2 API)</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Hourly, Jul 2024–Jun 2025</a:t>
                      </a:r>
                      <a:endParaRPr lang="en-US" sz="1100" dirty="0"/>
                    </a:p>
                    <a:p>
                      <a:pPr marL="0" indent="0">
                        <a:buNone/>
                      </a:pPr>
                      <a:r>
                        <a:rPr lang="en-US" sz="1100" b="1" dirty="0">
                          <a:solidFill>
                            <a:schemeClr val="tx1"/>
                          </a:solidFill>
                        </a:rPr>
                        <a:t>11,765 rows · 5.7 MB</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100" u="sng" dirty="0">
                          <a:solidFill>
                            <a:schemeClr val="accent6"/>
                          </a:solidFill>
                          <a:hlinkClick r:id="rId7" tooltip="https://www.ncei.noaa.gov/access/metadata/landing-page/bin/iso?id=gov.noaa.ncdc:C00684">
                            <a:extLst>
                              <a:ext uri="{A12FA001-AC4F-418D-AE19-62706E023703}">
                                <ahyp:hlinkClr xmlns:ahyp="http://schemas.microsoft.com/office/drawing/2018/hyperlinkcolor" val="tx"/>
                              </a:ext>
                            </a:extLst>
                          </a:hlinkClick>
                        </a:rPr>
                        <a:t>U.S. public domain, cite NOAA</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83409">
                <a:tc>
                  <a:txBody>
                    <a:bodyPr/>
                    <a:lstStyle/>
                    <a:p>
                      <a:pPr marL="0" indent="0">
                        <a:buNone/>
                      </a:pPr>
                      <a:r>
                        <a:rPr lang="en-US" sz="1100" dirty="0">
                          <a:solidFill>
                            <a:schemeClr val="tx1"/>
                          </a:solidFill>
                        </a:rPr>
                        <a:t>MTA Subway Stations (links complexes, stop IDs and GTFS stops)</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100" u="sng" dirty="0">
                          <a:solidFill>
                            <a:schemeClr val="accent6"/>
                          </a:solidFill>
                          <a:hlinkClick r:id="rId8" tooltip="https://data.ny.gov/d/39hk-dx4f">
                            <a:extLst>
                              <a:ext uri="{A12FA001-AC4F-418D-AE19-62706E023703}">
                                <ahyp:hlinkClr xmlns:ahyp="http://schemas.microsoft.com/office/drawing/2018/hyperlinkcolor" val="tx"/>
                              </a:ext>
                            </a:extLst>
                          </a:hlinkClick>
                        </a:rPr>
                        <a:t>data.ny.gov/d/39hk-dx4f</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Whole table</a:t>
                      </a:r>
                      <a:endParaRPr lang="en-US" sz="1100" dirty="0"/>
                    </a:p>
                    <a:p>
                      <a:pPr marL="0" indent="0">
                        <a:buNone/>
                      </a:pPr>
                      <a:r>
                        <a:rPr lang="en-US" sz="1100" b="1" dirty="0">
                          <a:solidFill>
                            <a:schemeClr val="tx1"/>
                          </a:solidFill>
                        </a:rPr>
                        <a:t>496 rows · 69 KB</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100" u="sng" dirty="0">
                          <a:solidFill>
                            <a:schemeClr val="accent6"/>
                          </a:solidFill>
                          <a:hlinkClick r:id="rId4" tooltip="https://data.ny.gov/dataset/OPEN-NY-Terms-Of-Use/77gx-ii52">
                            <a:extLst>
                              <a:ext uri="{A12FA001-AC4F-418D-AE19-62706E023703}">
                                <ahyp:hlinkClr xmlns:ahyp="http://schemas.microsoft.com/office/drawing/2018/hyperlinkcolor" val="tx"/>
                              </a:ext>
                            </a:extLst>
                          </a:hlinkClick>
                        </a:rPr>
                        <a:t>OPEN-NY</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17" name="ZoneTexte 16">
            <a:extLst>
              <a:ext uri="{FF2B5EF4-FFF2-40B4-BE49-F238E27FC236}">
                <a16:creationId xmlns:a16="http://schemas.microsoft.com/office/drawing/2014/main" id="{C6908C34-6DE7-A78F-677B-F67C17F71DBC}"/>
              </a:ext>
            </a:extLst>
          </p:cNvPr>
          <p:cNvSpPr txBox="1"/>
          <p:nvPr/>
        </p:nvSpPr>
        <p:spPr>
          <a:xfrm>
            <a:off x="128187" y="863995"/>
            <a:ext cx="7135738" cy="1138773"/>
          </a:xfrm>
          <a:prstGeom prst="rect">
            <a:avLst/>
          </a:prstGeom>
          <a:noFill/>
        </p:spPr>
        <p:txBody>
          <a:bodyPr wrap="square" rtlCol="0">
            <a:spAutoFit/>
          </a:bodyPr>
          <a:lstStyle/>
          <a:p>
            <a:r>
              <a:rPr lang="en-US" b="1" dirty="0"/>
              <a:t>Master Data and Intelligence for Smart Systems Data Processing and Analytics Project </a:t>
            </a:r>
          </a:p>
          <a:p>
            <a:r>
              <a:rPr lang="en-US" sz="1600" b="1" dirty="0"/>
              <a:t>Made By: Oussama Sbaa / Mazen Morsy / Abdullah Hameed</a:t>
            </a:r>
          </a:p>
          <a:p>
            <a:r>
              <a:rPr lang="en-US" sz="1600" b="1" dirty="0"/>
              <a:t>GitHub repository link : </a:t>
            </a:r>
            <a:r>
              <a:rPr lang="en-US" sz="1400" b="1" u="sng" dirty="0">
                <a:solidFill>
                  <a:srgbClr val="00B0F0"/>
                </a:solidFill>
              </a:rPr>
              <a:t>https://github.com/oussama-sbaa1/DPA_Project_NYC_SUBWAY </a:t>
            </a:r>
            <a:endParaRPr lang="fr-FR" sz="1400" b="1" u="sng" dirty="0">
              <a:solidFill>
                <a:srgbClr val="00B0F0"/>
              </a:solidFill>
            </a:endParaRPr>
          </a:p>
        </p:txBody>
      </p:sp>
      <p:sp>
        <p:nvSpPr>
          <p:cNvPr id="18" name="ZoneTexte 17">
            <a:extLst>
              <a:ext uri="{FF2B5EF4-FFF2-40B4-BE49-F238E27FC236}">
                <a16:creationId xmlns:a16="http://schemas.microsoft.com/office/drawing/2014/main" id="{3B5EFA9E-2E23-92E0-21D9-1C7C881862C1}"/>
              </a:ext>
            </a:extLst>
          </p:cNvPr>
          <p:cNvSpPr txBox="1"/>
          <p:nvPr/>
        </p:nvSpPr>
        <p:spPr>
          <a:xfrm>
            <a:off x="1" y="2476823"/>
            <a:ext cx="7562850" cy="1107996"/>
          </a:xfrm>
          <a:prstGeom prst="rect">
            <a:avLst/>
          </a:prstGeom>
          <a:noFill/>
        </p:spPr>
        <p:txBody>
          <a:bodyPr wrap="square" rtlCol="0">
            <a:spAutoFit/>
          </a:bodyPr>
          <a:lstStyle/>
          <a:p>
            <a:pPr marL="228600" indent="-228600">
              <a:buFont typeface="+mj-lt"/>
              <a:buAutoNum type="alphaUcPeriod"/>
            </a:pPr>
            <a:r>
              <a:rPr lang="en-US" sz="1400" b="1" dirty="0"/>
              <a:t>Domain: </a:t>
            </a:r>
            <a:r>
              <a:rPr lang="en-US" sz="1100" dirty="0"/>
              <a:t>Public transport, the New York City subway: critical stations and live disruptions</a:t>
            </a:r>
            <a:endParaRPr lang="en-US" sz="1100" b="1" dirty="0"/>
          </a:p>
          <a:p>
            <a:pPr marL="228600" indent="-228600">
              <a:buFont typeface="+mj-lt"/>
              <a:buAutoNum type="alphaUcPeriod"/>
            </a:pPr>
            <a:r>
              <a:rPr lang="en-US" sz="1400" b="1" dirty="0"/>
              <a:t>Overarching Question : </a:t>
            </a:r>
            <a:r>
              <a:rPr lang="en-US" sz="1100" dirty="0"/>
              <a:t>Which subway stations are critical for the network, and are live disruptions happening in those stations or not?</a:t>
            </a:r>
          </a:p>
          <a:p>
            <a:pPr marL="228600" indent="-228600">
              <a:buFont typeface="+mj-lt"/>
              <a:buAutoNum type="alphaUcPeriod"/>
            </a:pPr>
            <a:r>
              <a:rPr lang="en-US" sz="1400" b="1" dirty="0"/>
              <a:t>Part 1-Volume (Spark SQL)  Sub-question: </a:t>
            </a:r>
            <a:r>
              <a:rPr lang="en-US" sz="1100" dirty="0"/>
              <a:t>What is the usual ridership in each area (by subway station) by hour and day of the week, and by how much does the weather change it?</a:t>
            </a:r>
            <a:endParaRPr lang="en-US" sz="1100" b="1" dirty="0"/>
          </a:p>
        </p:txBody>
      </p:sp>
      <p:pic>
        <p:nvPicPr>
          <p:cNvPr id="24" name="Image 23">
            <a:extLst>
              <a:ext uri="{FF2B5EF4-FFF2-40B4-BE49-F238E27FC236}">
                <a16:creationId xmlns:a16="http://schemas.microsoft.com/office/drawing/2014/main" id="{B65764B3-DC60-9CA1-B62D-F4332E394722}"/>
              </a:ext>
            </a:extLst>
          </p:cNvPr>
          <p:cNvPicPr>
            <a:picLocks noChangeAspect="1"/>
          </p:cNvPicPr>
          <p:nvPr/>
        </p:nvPicPr>
        <p:blipFill>
          <a:blip r:embed="rId9"/>
          <a:stretch>
            <a:fillRect/>
          </a:stretch>
        </p:blipFill>
        <p:spPr>
          <a:xfrm>
            <a:off x="6993793" y="0"/>
            <a:ext cx="581786" cy="658625"/>
          </a:xfrm>
          <a:prstGeom prst="rect">
            <a:avLst/>
          </a:prstGeom>
        </p:spPr>
      </p:pic>
      <p:sp>
        <p:nvSpPr>
          <p:cNvPr id="3" name="ZoneTexte 2">
            <a:extLst>
              <a:ext uri="{FF2B5EF4-FFF2-40B4-BE49-F238E27FC236}">
                <a16:creationId xmlns:a16="http://schemas.microsoft.com/office/drawing/2014/main" id="{2B31B8E7-CDC4-C6B4-F8F4-5052E35FEB72}"/>
              </a:ext>
            </a:extLst>
          </p:cNvPr>
          <p:cNvSpPr txBox="1"/>
          <p:nvPr/>
        </p:nvSpPr>
        <p:spPr>
          <a:xfrm>
            <a:off x="255905" y="4094320"/>
            <a:ext cx="7306945" cy="307777"/>
          </a:xfrm>
          <a:prstGeom prst="rect">
            <a:avLst/>
          </a:prstGeom>
          <a:noFill/>
        </p:spPr>
        <p:txBody>
          <a:bodyPr wrap="square" rtlCol="0">
            <a:spAutoFit/>
          </a:bodyPr>
          <a:lstStyle/>
          <a:p>
            <a:pPr marL="342900" indent="-342900">
              <a:buFont typeface="+mj-lt"/>
              <a:buAutoNum type="alphaUcPeriod"/>
            </a:pPr>
            <a:r>
              <a:rPr lang="en-US" sz="1400" b="1" dirty="0"/>
              <a:t>Datasets source for Part 1 : links to the sources, sizes and licenses</a:t>
            </a:r>
            <a:endParaRPr lang="fr-FR" sz="1400" b="1" dirty="0"/>
          </a:p>
        </p:txBody>
      </p:sp>
      <p:sp>
        <p:nvSpPr>
          <p:cNvPr id="6" name="Text 11">
            <a:extLst>
              <a:ext uri="{FF2B5EF4-FFF2-40B4-BE49-F238E27FC236}">
                <a16:creationId xmlns:a16="http://schemas.microsoft.com/office/drawing/2014/main" id="{523BA459-C15E-6324-7BCE-29A0A8CD27DC}"/>
              </a:ext>
            </a:extLst>
          </p:cNvPr>
          <p:cNvSpPr txBox="1"/>
          <p:nvPr/>
        </p:nvSpPr>
        <p:spPr>
          <a:xfrm>
            <a:off x="17971" y="6742843"/>
            <a:ext cx="7544876" cy="699573"/>
          </a:xfrm>
          <a:prstGeom prst="rect">
            <a:avLst/>
          </a:prstGeom>
          <a:noFill/>
          <a:ln/>
        </p:spPr>
        <p:txBody>
          <a:bodyPr wrap="square" lIns="0" tIns="0" rIns="0" bIns="0" rtlCol="0" anchor="t"/>
          <a:lstStyle/>
          <a:p>
            <a:pPr marL="0" indent="0" algn="l">
              <a:buNone/>
            </a:pPr>
            <a:r>
              <a:rPr lang="en-US" sz="1400" b="1" dirty="0">
                <a:solidFill>
                  <a:srgbClr val="002060"/>
                </a:solidFill>
              </a:rPr>
              <a:t>Part 1 volume</a:t>
            </a:r>
            <a:r>
              <a:rPr lang="en-US" sz="1400" b="1" dirty="0">
                <a:solidFill>
                  <a:schemeClr val="tx2"/>
                </a:solidFill>
              </a:rPr>
              <a:t>: </a:t>
            </a:r>
            <a:r>
              <a:rPr lang="en-US" sz="1100" dirty="0"/>
              <a:t>29.4 M rows · 5.08 GB of CSV for 12 months . Raw files on the original database should be kept untouched According to the licensing rules for MTA database regulations, therefore we created our own copies to manipulate. For that every change is written to new parquet tables.</a:t>
            </a:r>
          </a:p>
        </p:txBody>
      </p:sp>
      <p:sp>
        <p:nvSpPr>
          <p:cNvPr id="10" name="ZoneTexte 9">
            <a:extLst>
              <a:ext uri="{FF2B5EF4-FFF2-40B4-BE49-F238E27FC236}">
                <a16:creationId xmlns:a16="http://schemas.microsoft.com/office/drawing/2014/main" id="{519EE21B-4DB8-BDD6-F6C1-6C091675BB70}"/>
              </a:ext>
            </a:extLst>
          </p:cNvPr>
          <p:cNvSpPr txBox="1"/>
          <p:nvPr/>
        </p:nvSpPr>
        <p:spPr>
          <a:xfrm>
            <a:off x="0" y="7656766"/>
            <a:ext cx="7562851" cy="1415772"/>
          </a:xfrm>
          <a:prstGeom prst="rect">
            <a:avLst/>
          </a:prstGeom>
          <a:noFill/>
        </p:spPr>
        <p:txBody>
          <a:bodyPr wrap="square" rtlCol="0">
            <a:spAutoFit/>
          </a:bodyPr>
          <a:lstStyle/>
          <a:p>
            <a:r>
              <a:rPr lang="en-US" sz="1400" b="1" dirty="0"/>
              <a:t>There are two real joins in our datasets: </a:t>
            </a:r>
          </a:p>
          <a:p>
            <a:pPr marL="857250" lvl="1" indent="-400050">
              <a:buFont typeface="+mj-lt"/>
              <a:buAutoNum type="romanLcPeriod"/>
            </a:pPr>
            <a:r>
              <a:rPr lang="en-US" sz="1400" b="1" dirty="0"/>
              <a:t>Ridership dataset with stations dataset: </a:t>
            </a:r>
            <a:r>
              <a:rPr lang="en-US" sz="1100" dirty="0"/>
              <a:t>We joined by </a:t>
            </a:r>
            <a:r>
              <a:rPr lang="en-US" sz="1100" dirty="0" err="1"/>
              <a:t>Complex_ID</a:t>
            </a:r>
            <a:r>
              <a:rPr lang="en-US" sz="1100" dirty="0"/>
              <a:t> so that each ridership database row gets also the stations name and the borough. This is done in order to know about the busiest stations and to compare boroughs.</a:t>
            </a:r>
          </a:p>
          <a:p>
            <a:pPr marL="857250" lvl="1" indent="-400050">
              <a:buFont typeface="+mj-lt"/>
              <a:buAutoNum type="romanLcPeriod"/>
            </a:pPr>
            <a:r>
              <a:rPr lang="en-US" sz="1400" b="1" dirty="0"/>
              <a:t>Ridership dataset with weather dataset: </a:t>
            </a:r>
            <a:r>
              <a:rPr lang="en-US" sz="1100" dirty="0"/>
              <a:t>We joined  the hour (New York time). Each hour of ridership gets its corresponding weather (dry, light rain,  heavy rain, snow). This is done to be able to compare rides in rainy or snowy hours with the rides in dry hours.</a:t>
            </a:r>
          </a:p>
        </p:txBody>
      </p:sp>
      <p:sp>
        <p:nvSpPr>
          <p:cNvPr id="15" name="ZoneTexte 14">
            <a:extLst>
              <a:ext uri="{FF2B5EF4-FFF2-40B4-BE49-F238E27FC236}">
                <a16:creationId xmlns:a16="http://schemas.microsoft.com/office/drawing/2014/main" id="{BEC09D2A-BA40-3886-13CE-4C182CE39F46}"/>
              </a:ext>
            </a:extLst>
          </p:cNvPr>
          <p:cNvSpPr txBox="1"/>
          <p:nvPr/>
        </p:nvSpPr>
        <p:spPr>
          <a:xfrm>
            <a:off x="262533" y="7328578"/>
            <a:ext cx="7306945" cy="307777"/>
          </a:xfrm>
          <a:prstGeom prst="rect">
            <a:avLst/>
          </a:prstGeom>
          <a:noFill/>
        </p:spPr>
        <p:txBody>
          <a:bodyPr wrap="square" rtlCol="0">
            <a:spAutoFit/>
          </a:bodyPr>
          <a:lstStyle/>
          <a:p>
            <a:r>
              <a:rPr lang="en-US" sz="1400" b="1" dirty="0"/>
              <a:t>B.      How the data is joined for Part :</a:t>
            </a:r>
            <a:endParaRPr lang="fr-FR" sz="1400" b="1" dirty="0"/>
          </a:p>
        </p:txBody>
      </p:sp>
      <p:sp>
        <p:nvSpPr>
          <p:cNvPr id="19" name="ZoneTexte 18">
            <a:extLst>
              <a:ext uri="{FF2B5EF4-FFF2-40B4-BE49-F238E27FC236}">
                <a16:creationId xmlns:a16="http://schemas.microsoft.com/office/drawing/2014/main" id="{50E8542C-09E4-D4B3-E9DC-9FE07AEF99DD}"/>
              </a:ext>
            </a:extLst>
          </p:cNvPr>
          <p:cNvSpPr txBox="1"/>
          <p:nvPr/>
        </p:nvSpPr>
        <p:spPr>
          <a:xfrm>
            <a:off x="12660" y="9481123"/>
            <a:ext cx="7550187" cy="938719"/>
          </a:xfrm>
          <a:prstGeom prst="rect">
            <a:avLst/>
          </a:prstGeom>
          <a:noFill/>
        </p:spPr>
        <p:txBody>
          <a:bodyPr wrap="square" lIns="91440" tIns="45720" rIns="91440" bIns="45720" rtlCol="0" anchor="t">
            <a:spAutoFit/>
          </a:bodyPr>
          <a:lstStyle/>
          <a:p>
            <a:r>
              <a:rPr lang="en-US" sz="1100" dirty="0"/>
              <a:t>We have mainly used spark because of the Size of Data we have. In fact, Ridership data alone is 5.08 GB of CSVs. This data size is too big for normal tools. Matter of fact 1 month data is already twice Excel’s limit of 1,048,576 rows. And if we use Pandas </a:t>
            </a:r>
            <a:r>
              <a:rPr lang="en-US" sz="1100" dirty="0" err="1"/>
              <a:t>dataframes</a:t>
            </a:r>
            <a:r>
              <a:rPr lang="en-US" sz="1100" dirty="0"/>
              <a:t>, it </a:t>
            </a:r>
            <a:r>
              <a:rPr lang="en-US" sz="1100" dirty="0" err="1"/>
              <a:t>would</a:t>
            </a:r>
            <a:r>
              <a:rPr lang="en-US" sz="1100" dirty="0"/>
              <a:t> have to load the whole table into the laptop’s memory at once and overloading it. The interesting part of using Spark here is its ability to process large datasets by splitting  data into small pieces and processing them in parallel on all the processor cores which results in the cleaning of 29.4 million rows in a matter of few minutes.</a:t>
            </a:r>
          </a:p>
        </p:txBody>
      </p:sp>
      <p:sp>
        <p:nvSpPr>
          <p:cNvPr id="21" name="ZoneTexte 20">
            <a:extLst>
              <a:ext uri="{FF2B5EF4-FFF2-40B4-BE49-F238E27FC236}">
                <a16:creationId xmlns:a16="http://schemas.microsoft.com/office/drawing/2014/main" id="{BFCCA857-CAB0-7ED8-C17D-42A459B835D6}"/>
              </a:ext>
            </a:extLst>
          </p:cNvPr>
          <p:cNvSpPr txBox="1"/>
          <p:nvPr/>
        </p:nvSpPr>
        <p:spPr>
          <a:xfrm>
            <a:off x="269161" y="9114544"/>
            <a:ext cx="7306945" cy="307777"/>
          </a:xfrm>
          <a:prstGeom prst="rect">
            <a:avLst/>
          </a:prstGeom>
          <a:noFill/>
        </p:spPr>
        <p:txBody>
          <a:bodyPr wrap="square" rtlCol="0">
            <a:spAutoFit/>
          </a:bodyPr>
          <a:lstStyle/>
          <a:p>
            <a:r>
              <a:rPr lang="en-US" sz="1400" b="1" dirty="0"/>
              <a:t>C.      Why we chose to use Spark :</a:t>
            </a:r>
            <a:endParaRPr lang="fr-FR" sz="1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10">
            <a:extLst>
              <a:ext uri="{FF2B5EF4-FFF2-40B4-BE49-F238E27FC236}">
                <a16:creationId xmlns:a16="http://schemas.microsoft.com/office/drawing/2014/main" id="{56AD2D81-22F2-22EE-03EB-FD2EB11B464E}"/>
              </a:ext>
            </a:extLst>
          </p:cNvPr>
          <p:cNvSpPr txBox="1"/>
          <p:nvPr/>
        </p:nvSpPr>
        <p:spPr>
          <a:xfrm>
            <a:off x="172278" y="26831"/>
            <a:ext cx="7390571" cy="786381"/>
          </a:xfrm>
          <a:prstGeom prst="rect">
            <a:avLst/>
          </a:prstGeom>
          <a:noFill/>
          <a:ln/>
        </p:spPr>
        <p:txBody>
          <a:bodyPr wrap="square" lIns="0" tIns="0" rIns="0" bIns="0" rtlCol="0" anchor="ctr"/>
          <a:lstStyle/>
          <a:p>
            <a:r>
              <a:rPr lang="en-US" sz="1600" b="1" u="sng" dirty="0"/>
              <a:t>3</a:t>
            </a:r>
            <a:r>
              <a:rPr lang="en-US" sz="1600" b="1" u="sng" dirty="0">
                <a:solidFill>
                  <a:schemeClr val="tx1"/>
                </a:solidFill>
              </a:rPr>
              <a:t>/ </a:t>
            </a:r>
            <a:r>
              <a:rPr lang="en-US" sz="1600" b="1" u="sng" spc="-10" dirty="0">
                <a:latin typeface="Arial MT"/>
                <a:cs typeface="Arial MT"/>
              </a:rPr>
              <a:t>Pipeline:</a:t>
            </a:r>
            <a:r>
              <a:rPr lang="en-US" sz="1600" b="1" u="sng" spc="-30" dirty="0">
                <a:latin typeface="Arial MT"/>
                <a:cs typeface="Arial MT"/>
              </a:rPr>
              <a:t> </a:t>
            </a:r>
            <a:r>
              <a:rPr lang="en-US" sz="1600" b="1" u="sng" dirty="0">
                <a:latin typeface="Arial MT"/>
                <a:cs typeface="Arial MT"/>
              </a:rPr>
              <a:t>a</a:t>
            </a:r>
            <a:r>
              <a:rPr lang="en-US" sz="1600" b="1" u="sng" spc="-25" dirty="0">
                <a:latin typeface="Arial MT"/>
                <a:cs typeface="Arial MT"/>
              </a:rPr>
              <a:t> </a:t>
            </a:r>
            <a:r>
              <a:rPr lang="en-US" sz="1600" b="1" u="sng" dirty="0">
                <a:latin typeface="Arial MT"/>
                <a:cs typeface="Arial MT"/>
              </a:rPr>
              <a:t>diagram</a:t>
            </a:r>
            <a:r>
              <a:rPr lang="en-US" sz="1600" b="1" u="sng" spc="-25" dirty="0">
                <a:latin typeface="Arial MT"/>
                <a:cs typeface="Arial MT"/>
              </a:rPr>
              <a:t> </a:t>
            </a:r>
            <a:r>
              <a:rPr lang="en-US" sz="1600" b="1" u="sng" dirty="0">
                <a:latin typeface="Arial MT"/>
                <a:cs typeface="Arial MT"/>
              </a:rPr>
              <a:t>and</a:t>
            </a:r>
            <a:r>
              <a:rPr lang="en-US" sz="1600" b="1" u="sng" spc="-25" dirty="0">
                <a:latin typeface="Arial MT"/>
                <a:cs typeface="Arial MT"/>
              </a:rPr>
              <a:t> </a:t>
            </a:r>
            <a:r>
              <a:rPr lang="en-US" sz="1600" b="1" u="sng" dirty="0">
                <a:latin typeface="Arial MT"/>
                <a:cs typeface="Arial MT"/>
              </a:rPr>
              <a:t>a</a:t>
            </a:r>
            <a:r>
              <a:rPr lang="en-US" sz="1600" b="1" u="sng" spc="-25" dirty="0">
                <a:latin typeface="Arial MT"/>
                <a:cs typeface="Arial MT"/>
              </a:rPr>
              <a:t> </a:t>
            </a:r>
            <a:r>
              <a:rPr lang="en-US" sz="1600" b="1" u="sng" spc="-10" dirty="0">
                <a:latin typeface="Arial MT"/>
                <a:cs typeface="Arial MT"/>
              </a:rPr>
              <a:t>description</a:t>
            </a:r>
            <a:r>
              <a:rPr lang="en-US" sz="1600" b="1" u="sng" spc="-30" dirty="0">
                <a:latin typeface="Arial MT"/>
                <a:cs typeface="Arial MT"/>
              </a:rPr>
              <a:t> </a:t>
            </a:r>
            <a:r>
              <a:rPr lang="en-US" sz="1600" b="1" u="sng" dirty="0">
                <a:latin typeface="Arial MT"/>
                <a:cs typeface="Arial MT"/>
              </a:rPr>
              <a:t>of</a:t>
            </a:r>
            <a:r>
              <a:rPr lang="en-US" sz="1600" b="1" u="sng" spc="-25" dirty="0">
                <a:latin typeface="Arial MT"/>
                <a:cs typeface="Arial MT"/>
              </a:rPr>
              <a:t> </a:t>
            </a:r>
            <a:r>
              <a:rPr lang="en-US" sz="1600" b="1" u="sng" dirty="0">
                <a:latin typeface="Arial MT"/>
                <a:cs typeface="Arial MT"/>
              </a:rPr>
              <a:t>the</a:t>
            </a:r>
            <a:r>
              <a:rPr lang="en-US" sz="1600" b="1" u="sng" spc="-25" dirty="0">
                <a:latin typeface="Arial MT"/>
                <a:cs typeface="Arial MT"/>
              </a:rPr>
              <a:t> </a:t>
            </a:r>
            <a:r>
              <a:rPr lang="en-US" sz="1600" b="1" u="sng" dirty="0">
                <a:latin typeface="Arial MT"/>
                <a:cs typeface="Arial MT"/>
              </a:rPr>
              <a:t>analysis</a:t>
            </a:r>
            <a:r>
              <a:rPr lang="en-US" sz="1600" b="1" u="sng" spc="-25" dirty="0">
                <a:latin typeface="Arial MT"/>
                <a:cs typeface="Arial MT"/>
              </a:rPr>
              <a:t> </a:t>
            </a:r>
            <a:r>
              <a:rPr lang="en-US" sz="1600" b="1" u="sng" dirty="0">
                <a:latin typeface="Arial MT"/>
                <a:cs typeface="Arial MT"/>
              </a:rPr>
              <a:t>process</a:t>
            </a:r>
            <a:r>
              <a:rPr lang="en-US" sz="1600" b="1" u="sng" spc="-25" dirty="0">
                <a:latin typeface="Arial MT"/>
                <a:cs typeface="Arial MT"/>
              </a:rPr>
              <a:t> </a:t>
            </a:r>
            <a:r>
              <a:rPr lang="en-US" sz="1600" b="1" u="sng" dirty="0">
                <a:latin typeface="Arial MT"/>
                <a:cs typeface="Arial MT"/>
              </a:rPr>
              <a:t>from</a:t>
            </a:r>
            <a:r>
              <a:rPr lang="en-US" sz="1600" b="1" u="sng" spc="-30" dirty="0">
                <a:latin typeface="Arial MT"/>
                <a:cs typeface="Arial MT"/>
              </a:rPr>
              <a:t> </a:t>
            </a:r>
            <a:r>
              <a:rPr lang="en-US" sz="1600" b="1" u="sng" dirty="0">
                <a:latin typeface="Arial MT"/>
                <a:cs typeface="Arial MT"/>
              </a:rPr>
              <a:t>raw</a:t>
            </a:r>
            <a:r>
              <a:rPr lang="en-US" sz="1600" b="1" u="sng" spc="-25" dirty="0">
                <a:latin typeface="Arial MT"/>
                <a:cs typeface="Arial MT"/>
              </a:rPr>
              <a:t> </a:t>
            </a:r>
            <a:r>
              <a:rPr lang="en-US" sz="1600" b="1" u="sng" dirty="0">
                <a:latin typeface="Arial MT"/>
                <a:cs typeface="Arial MT"/>
              </a:rPr>
              <a:t>data</a:t>
            </a:r>
            <a:r>
              <a:rPr lang="en-US" sz="1600" b="1" u="sng" spc="-25" dirty="0">
                <a:latin typeface="Arial MT"/>
                <a:cs typeface="Arial MT"/>
              </a:rPr>
              <a:t> </a:t>
            </a:r>
            <a:r>
              <a:rPr lang="en-US" sz="1600" b="1" u="sng" dirty="0">
                <a:latin typeface="Arial MT"/>
                <a:cs typeface="Arial MT"/>
              </a:rPr>
              <a:t>to</a:t>
            </a:r>
            <a:r>
              <a:rPr lang="en-US" sz="1600" b="1" u="sng" spc="-25" dirty="0">
                <a:latin typeface="Arial MT"/>
                <a:cs typeface="Arial MT"/>
              </a:rPr>
              <a:t> </a:t>
            </a:r>
            <a:r>
              <a:rPr lang="en-US" sz="1600" b="1" u="sng" spc="-10" dirty="0">
                <a:latin typeface="Arial MT"/>
                <a:cs typeface="Arial MT"/>
              </a:rPr>
              <a:t>results</a:t>
            </a:r>
            <a:endParaRPr lang="en-US" sz="1600" b="1" u="sng" dirty="0"/>
          </a:p>
        </p:txBody>
      </p:sp>
      <p:sp>
        <p:nvSpPr>
          <p:cNvPr id="18" name="ZoneTexte 17">
            <a:extLst>
              <a:ext uri="{FF2B5EF4-FFF2-40B4-BE49-F238E27FC236}">
                <a16:creationId xmlns:a16="http://schemas.microsoft.com/office/drawing/2014/main" id="{061F5A99-B0EE-8B1B-C29F-BC7D7EA44F5C}"/>
              </a:ext>
            </a:extLst>
          </p:cNvPr>
          <p:cNvSpPr txBox="1"/>
          <p:nvPr/>
        </p:nvSpPr>
        <p:spPr>
          <a:xfrm>
            <a:off x="12660" y="712326"/>
            <a:ext cx="7508019" cy="307777"/>
          </a:xfrm>
          <a:prstGeom prst="rect">
            <a:avLst/>
          </a:prstGeom>
          <a:noFill/>
        </p:spPr>
        <p:txBody>
          <a:bodyPr wrap="square" rtlCol="0">
            <a:spAutoFit/>
          </a:bodyPr>
          <a:lstStyle/>
          <a:p>
            <a:pPr marL="228600" indent="-228600">
              <a:buFont typeface="+mj-lt"/>
              <a:buAutoNum type="alphaUcPeriod"/>
            </a:pPr>
            <a:r>
              <a:rPr lang="en-US" sz="1400" b="1" dirty="0"/>
              <a:t>Pipeline Diagram: Divided into Layers:</a:t>
            </a:r>
            <a:r>
              <a:rPr lang="en-US" sz="1400" b="1" dirty="0">
                <a:solidFill>
                  <a:srgbClr val="FF0000"/>
                </a:solidFill>
              </a:rPr>
              <a:t> </a:t>
            </a:r>
            <a:r>
              <a:rPr lang="en-US" sz="1200" b="1" dirty="0">
                <a:solidFill>
                  <a:srgbClr val="FF0000"/>
                </a:solidFill>
              </a:rPr>
              <a:t>N.B </a:t>
            </a:r>
            <a:r>
              <a:rPr lang="en-US" sz="1200" dirty="0">
                <a:solidFill>
                  <a:srgbClr val="FF0000"/>
                </a:solidFill>
              </a:rPr>
              <a:t>All steps run in Docker (Jupyter + Spark 3.5.0)</a:t>
            </a:r>
            <a:endParaRPr lang="en-US" sz="1200" b="1" dirty="0"/>
          </a:p>
        </p:txBody>
      </p:sp>
      <p:sp>
        <p:nvSpPr>
          <p:cNvPr id="3" name="Rectangle 2">
            <a:extLst>
              <a:ext uri="{FF2B5EF4-FFF2-40B4-BE49-F238E27FC236}">
                <a16:creationId xmlns:a16="http://schemas.microsoft.com/office/drawing/2014/main" id="{9462F351-46B0-EDE4-3F81-F0611596DFE6}"/>
              </a:ext>
            </a:extLst>
          </p:cNvPr>
          <p:cNvSpPr/>
          <p:nvPr/>
        </p:nvSpPr>
        <p:spPr>
          <a:xfrm>
            <a:off x="921838" y="4587102"/>
            <a:ext cx="5616699" cy="3380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solidFill>
                  <a:schemeClr val="tx1"/>
                </a:solidFill>
              </a:rPr>
              <a:t>Silver Layer Output: Clean tables, Ready to join</a:t>
            </a:r>
            <a:endParaRPr lang="fr-FR" sz="1400" dirty="0">
              <a:solidFill>
                <a:schemeClr val="tx1"/>
              </a:solidFill>
            </a:endParaRPr>
          </a:p>
        </p:txBody>
      </p:sp>
      <p:sp>
        <p:nvSpPr>
          <p:cNvPr id="5" name="Rectangle 4">
            <a:extLst>
              <a:ext uri="{FF2B5EF4-FFF2-40B4-BE49-F238E27FC236}">
                <a16:creationId xmlns:a16="http://schemas.microsoft.com/office/drawing/2014/main" id="{174AD5F5-7679-ACE3-A124-29AC89D8148E}"/>
              </a:ext>
            </a:extLst>
          </p:cNvPr>
          <p:cNvSpPr/>
          <p:nvPr/>
        </p:nvSpPr>
        <p:spPr>
          <a:xfrm>
            <a:off x="921839" y="3235264"/>
            <a:ext cx="5616696" cy="3681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Bronze Layer Output: Typed Parquet files </a:t>
            </a:r>
            <a:endParaRPr lang="fr-FR" sz="1400" dirty="0">
              <a:solidFill>
                <a:schemeClr val="tx1"/>
              </a:solidFill>
            </a:endParaRPr>
          </a:p>
        </p:txBody>
      </p:sp>
      <p:sp>
        <p:nvSpPr>
          <p:cNvPr id="7" name="Rectangle 6">
            <a:extLst>
              <a:ext uri="{FF2B5EF4-FFF2-40B4-BE49-F238E27FC236}">
                <a16:creationId xmlns:a16="http://schemas.microsoft.com/office/drawing/2014/main" id="{F1B937CE-4C0A-82BF-A183-4BEDFE242E63}"/>
              </a:ext>
            </a:extLst>
          </p:cNvPr>
          <p:cNvSpPr/>
          <p:nvPr/>
        </p:nvSpPr>
        <p:spPr>
          <a:xfrm>
            <a:off x="921838" y="5891291"/>
            <a:ext cx="5616699" cy="336839"/>
          </a:xfrm>
          <a:prstGeom prst="rect">
            <a:avLst/>
          </a:prstGeom>
          <a:solidFill>
            <a:srgbClr val="FFC0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solidFill>
                  <a:schemeClr val="tx1"/>
                </a:solidFill>
              </a:rPr>
              <a:t>Gold Layer Output : Usual </a:t>
            </a:r>
            <a:r>
              <a:rPr lang="en-US" sz="1400" dirty="0" err="1">
                <a:solidFill>
                  <a:schemeClr val="tx1"/>
                </a:solidFill>
              </a:rPr>
              <a:t>Riderships</a:t>
            </a:r>
            <a:r>
              <a:rPr lang="en-US" sz="1400" dirty="0">
                <a:solidFill>
                  <a:schemeClr val="tx1"/>
                </a:solidFill>
              </a:rPr>
              <a:t>, Busiest Station and Weather effect</a:t>
            </a:r>
            <a:endParaRPr lang="fr-FR" sz="1400" dirty="0">
              <a:solidFill>
                <a:schemeClr val="tx1"/>
              </a:solidFill>
            </a:endParaRPr>
          </a:p>
        </p:txBody>
      </p:sp>
      <p:sp>
        <p:nvSpPr>
          <p:cNvPr id="11" name="Rectangle 10">
            <a:extLst>
              <a:ext uri="{FF2B5EF4-FFF2-40B4-BE49-F238E27FC236}">
                <a16:creationId xmlns:a16="http://schemas.microsoft.com/office/drawing/2014/main" id="{58FCC742-538A-D2AC-39FC-64966333AE5C}"/>
              </a:ext>
            </a:extLst>
          </p:cNvPr>
          <p:cNvSpPr/>
          <p:nvPr/>
        </p:nvSpPr>
        <p:spPr>
          <a:xfrm>
            <a:off x="2942065" y="1060500"/>
            <a:ext cx="1453604" cy="4367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Downloaded Raw Data</a:t>
            </a:r>
            <a:endParaRPr lang="fr-FR" sz="1400" b="1" dirty="0">
              <a:solidFill>
                <a:schemeClr val="tx1"/>
              </a:solidFill>
            </a:endParaRPr>
          </a:p>
        </p:txBody>
      </p:sp>
      <p:sp>
        <p:nvSpPr>
          <p:cNvPr id="19" name="Rectangle 18">
            <a:extLst>
              <a:ext uri="{FF2B5EF4-FFF2-40B4-BE49-F238E27FC236}">
                <a16:creationId xmlns:a16="http://schemas.microsoft.com/office/drawing/2014/main" id="{A9C1AA2B-76E7-D48A-241B-5CFF6E44F47C}"/>
              </a:ext>
            </a:extLst>
          </p:cNvPr>
          <p:cNvSpPr/>
          <p:nvPr/>
        </p:nvSpPr>
        <p:spPr>
          <a:xfrm>
            <a:off x="42170" y="1754213"/>
            <a:ext cx="2250458" cy="49322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MTA hourly Ridership 12 months CSVs, 5,1 GB </a:t>
            </a:r>
            <a:endParaRPr lang="fr-FR" sz="1400" dirty="0">
              <a:solidFill>
                <a:schemeClr val="tx1"/>
              </a:solidFill>
            </a:endParaRPr>
          </a:p>
        </p:txBody>
      </p:sp>
      <p:sp>
        <p:nvSpPr>
          <p:cNvPr id="23" name="Rectangle 22">
            <a:extLst>
              <a:ext uri="{FF2B5EF4-FFF2-40B4-BE49-F238E27FC236}">
                <a16:creationId xmlns:a16="http://schemas.microsoft.com/office/drawing/2014/main" id="{3B8229AD-92E7-2E84-E338-07CF37066F57}"/>
              </a:ext>
            </a:extLst>
          </p:cNvPr>
          <p:cNvSpPr/>
          <p:nvPr/>
        </p:nvSpPr>
        <p:spPr>
          <a:xfrm>
            <a:off x="2532332" y="1766399"/>
            <a:ext cx="2211949" cy="49322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MTA Subway Stations 1 CSV</a:t>
            </a:r>
            <a:endParaRPr lang="fr-FR" sz="1400" dirty="0">
              <a:solidFill>
                <a:schemeClr val="tx1"/>
              </a:solidFill>
            </a:endParaRPr>
          </a:p>
        </p:txBody>
      </p:sp>
      <p:sp>
        <p:nvSpPr>
          <p:cNvPr id="27" name="Rectangle 26">
            <a:extLst>
              <a:ext uri="{FF2B5EF4-FFF2-40B4-BE49-F238E27FC236}">
                <a16:creationId xmlns:a16="http://schemas.microsoft.com/office/drawing/2014/main" id="{FB782ED2-22D6-36E2-0579-9F080A2AEA27}"/>
              </a:ext>
            </a:extLst>
          </p:cNvPr>
          <p:cNvSpPr/>
          <p:nvPr/>
        </p:nvSpPr>
        <p:spPr>
          <a:xfrm>
            <a:off x="5248675" y="1798278"/>
            <a:ext cx="2151262" cy="49322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NOAA Weather from Central Park 12 CSVs</a:t>
            </a:r>
            <a:endParaRPr lang="fr-FR" sz="1400" dirty="0">
              <a:solidFill>
                <a:schemeClr val="tx1"/>
              </a:solidFill>
            </a:endParaRPr>
          </a:p>
        </p:txBody>
      </p:sp>
      <p:sp>
        <p:nvSpPr>
          <p:cNvPr id="28" name="Flèche : angle droit à deux pointes 27">
            <a:extLst>
              <a:ext uri="{FF2B5EF4-FFF2-40B4-BE49-F238E27FC236}">
                <a16:creationId xmlns:a16="http://schemas.microsoft.com/office/drawing/2014/main" id="{0CD92AB8-6046-C557-C1BE-433C18971126}"/>
              </a:ext>
            </a:extLst>
          </p:cNvPr>
          <p:cNvSpPr/>
          <p:nvPr/>
        </p:nvSpPr>
        <p:spPr>
          <a:xfrm flipH="1" flipV="1">
            <a:off x="865289" y="1183865"/>
            <a:ext cx="2076776" cy="545199"/>
          </a:xfrm>
          <a:prstGeom prst="leftUp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dirty="0"/>
          </a:p>
        </p:txBody>
      </p:sp>
      <p:sp>
        <p:nvSpPr>
          <p:cNvPr id="30" name="Flèche : angle droit à deux pointes 29">
            <a:extLst>
              <a:ext uri="{FF2B5EF4-FFF2-40B4-BE49-F238E27FC236}">
                <a16:creationId xmlns:a16="http://schemas.microsoft.com/office/drawing/2014/main" id="{CCD984D4-9FB7-B77B-D54A-EC113E773334}"/>
              </a:ext>
            </a:extLst>
          </p:cNvPr>
          <p:cNvSpPr/>
          <p:nvPr/>
        </p:nvSpPr>
        <p:spPr>
          <a:xfrm flipV="1">
            <a:off x="4395669" y="1162737"/>
            <a:ext cx="2142868" cy="611534"/>
          </a:xfrm>
          <a:prstGeom prst="leftUp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31" name="Flèche : bas 30">
            <a:extLst>
              <a:ext uri="{FF2B5EF4-FFF2-40B4-BE49-F238E27FC236}">
                <a16:creationId xmlns:a16="http://schemas.microsoft.com/office/drawing/2014/main" id="{04BD7B57-2722-B7FA-2119-0D00D33D35BC}"/>
              </a:ext>
            </a:extLst>
          </p:cNvPr>
          <p:cNvSpPr/>
          <p:nvPr/>
        </p:nvSpPr>
        <p:spPr>
          <a:xfrm>
            <a:off x="3455740" y="1494976"/>
            <a:ext cx="358789" cy="259237"/>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dirty="0"/>
          </a:p>
        </p:txBody>
      </p:sp>
      <p:sp>
        <p:nvSpPr>
          <p:cNvPr id="33" name="Flèche : bas 32">
            <a:extLst>
              <a:ext uri="{FF2B5EF4-FFF2-40B4-BE49-F238E27FC236}">
                <a16:creationId xmlns:a16="http://schemas.microsoft.com/office/drawing/2014/main" id="{86C9718B-2E4D-1BEA-C594-3980744C6815}"/>
              </a:ext>
            </a:extLst>
          </p:cNvPr>
          <p:cNvSpPr/>
          <p:nvPr/>
        </p:nvSpPr>
        <p:spPr>
          <a:xfrm>
            <a:off x="3454977" y="2284458"/>
            <a:ext cx="358789" cy="228789"/>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24611B21-768C-FCEC-DA3B-9A161C0B5E2C}"/>
              </a:ext>
            </a:extLst>
          </p:cNvPr>
          <p:cNvSpPr/>
          <p:nvPr/>
        </p:nvSpPr>
        <p:spPr>
          <a:xfrm>
            <a:off x="2108269" y="2513247"/>
            <a:ext cx="3205858" cy="49322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u="sng" dirty="0">
                <a:solidFill>
                  <a:srgbClr val="C00000"/>
                </a:solidFill>
              </a:rPr>
              <a:t>1</a:t>
            </a:r>
            <a:r>
              <a:rPr lang="en-US" sz="1400" b="1" u="sng" baseline="30000" dirty="0">
                <a:solidFill>
                  <a:srgbClr val="C00000"/>
                </a:solidFill>
              </a:rPr>
              <a:t>st</a:t>
            </a:r>
            <a:r>
              <a:rPr lang="en-US" sz="1400" b="1" u="sng" dirty="0">
                <a:solidFill>
                  <a:srgbClr val="C00000"/>
                </a:solidFill>
              </a:rPr>
              <a:t> Ingest: </a:t>
            </a:r>
            <a:r>
              <a:rPr lang="en-US" sz="1400" dirty="0">
                <a:solidFill>
                  <a:schemeClr val="tx1"/>
                </a:solidFill>
              </a:rPr>
              <a:t> Reads with Explicit Schema and Check the rows count</a:t>
            </a:r>
            <a:endParaRPr lang="fr-FR" sz="1400" dirty="0">
              <a:solidFill>
                <a:schemeClr val="tx1"/>
              </a:solidFill>
            </a:endParaRPr>
          </a:p>
        </p:txBody>
      </p:sp>
      <p:sp>
        <p:nvSpPr>
          <p:cNvPr id="40" name="Flèche : virage 39">
            <a:extLst>
              <a:ext uri="{FF2B5EF4-FFF2-40B4-BE49-F238E27FC236}">
                <a16:creationId xmlns:a16="http://schemas.microsoft.com/office/drawing/2014/main" id="{AE30D833-0E69-A6CA-7031-B915FB1B13FB}"/>
              </a:ext>
            </a:extLst>
          </p:cNvPr>
          <p:cNvSpPr/>
          <p:nvPr/>
        </p:nvSpPr>
        <p:spPr>
          <a:xfrm flipV="1">
            <a:off x="921838" y="2247439"/>
            <a:ext cx="1197110" cy="586277"/>
          </a:xfrm>
          <a:prstGeom prst="ben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solidFill>
                <a:schemeClr val="tx1"/>
              </a:solidFill>
            </a:endParaRPr>
          </a:p>
        </p:txBody>
      </p:sp>
      <p:sp>
        <p:nvSpPr>
          <p:cNvPr id="44" name="Flèche : virage 43">
            <a:extLst>
              <a:ext uri="{FF2B5EF4-FFF2-40B4-BE49-F238E27FC236}">
                <a16:creationId xmlns:a16="http://schemas.microsoft.com/office/drawing/2014/main" id="{DB7BB9D4-CD10-50EB-BF53-FFC7D495CEAD}"/>
              </a:ext>
            </a:extLst>
          </p:cNvPr>
          <p:cNvSpPr/>
          <p:nvPr/>
        </p:nvSpPr>
        <p:spPr>
          <a:xfrm flipH="1" flipV="1">
            <a:off x="5314127" y="2315511"/>
            <a:ext cx="1224408" cy="586276"/>
          </a:xfrm>
          <a:prstGeom prst="ben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dirty="0">
              <a:solidFill>
                <a:schemeClr val="tx1"/>
              </a:solidFill>
            </a:endParaRPr>
          </a:p>
        </p:txBody>
      </p:sp>
      <p:sp>
        <p:nvSpPr>
          <p:cNvPr id="46" name="Flèche : bas 45">
            <a:extLst>
              <a:ext uri="{FF2B5EF4-FFF2-40B4-BE49-F238E27FC236}">
                <a16:creationId xmlns:a16="http://schemas.microsoft.com/office/drawing/2014/main" id="{F1D4B5E9-6C7A-203C-8AFA-C2553EABE6FD}"/>
              </a:ext>
            </a:extLst>
          </p:cNvPr>
          <p:cNvSpPr/>
          <p:nvPr/>
        </p:nvSpPr>
        <p:spPr>
          <a:xfrm>
            <a:off x="3488109" y="3006702"/>
            <a:ext cx="358789" cy="228789"/>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52" name="Flèche : bas 51">
            <a:extLst>
              <a:ext uri="{FF2B5EF4-FFF2-40B4-BE49-F238E27FC236}">
                <a16:creationId xmlns:a16="http://schemas.microsoft.com/office/drawing/2014/main" id="{FFD70523-21DD-3AE1-F918-2C7F7B32C050}"/>
              </a:ext>
            </a:extLst>
          </p:cNvPr>
          <p:cNvSpPr/>
          <p:nvPr/>
        </p:nvSpPr>
        <p:spPr>
          <a:xfrm>
            <a:off x="3488106" y="3616839"/>
            <a:ext cx="358789" cy="228789"/>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54" name="Rectangle 53">
            <a:extLst>
              <a:ext uri="{FF2B5EF4-FFF2-40B4-BE49-F238E27FC236}">
                <a16:creationId xmlns:a16="http://schemas.microsoft.com/office/drawing/2014/main" id="{6F694678-7F5D-8D30-A566-5C6516245145}"/>
              </a:ext>
            </a:extLst>
          </p:cNvPr>
          <p:cNvSpPr/>
          <p:nvPr/>
        </p:nvSpPr>
        <p:spPr>
          <a:xfrm>
            <a:off x="19288" y="3845628"/>
            <a:ext cx="7508019" cy="49322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u="sng" dirty="0">
                <a:solidFill>
                  <a:srgbClr val="C00000"/>
                </a:solidFill>
              </a:rPr>
              <a:t>2</a:t>
            </a:r>
            <a:r>
              <a:rPr lang="en-US" sz="1400" b="1" u="sng" baseline="30000" dirty="0">
                <a:solidFill>
                  <a:srgbClr val="C00000"/>
                </a:solidFill>
              </a:rPr>
              <a:t>nd</a:t>
            </a:r>
            <a:r>
              <a:rPr lang="en-US" sz="1400" b="1" u="sng" dirty="0">
                <a:solidFill>
                  <a:srgbClr val="C00000"/>
                </a:solidFill>
              </a:rPr>
              <a:t> Clean:</a:t>
            </a:r>
            <a:r>
              <a:rPr lang="en-US" sz="1400" b="1" dirty="0">
                <a:solidFill>
                  <a:srgbClr val="C00000"/>
                </a:solidFill>
              </a:rPr>
              <a:t> </a:t>
            </a:r>
            <a:r>
              <a:rPr lang="en-US" sz="1400" dirty="0">
                <a:solidFill>
                  <a:schemeClr val="tx1"/>
                </a:solidFill>
              </a:rPr>
              <a:t>Apply 6 cleaning rules for the ridership Dataset, 2 cleaning rules for the Stations Dataset and 4 cleaning rules for the weather Dataset</a:t>
            </a:r>
            <a:endParaRPr lang="fr-FR" sz="1400" dirty="0">
              <a:solidFill>
                <a:schemeClr val="tx1"/>
              </a:solidFill>
            </a:endParaRPr>
          </a:p>
        </p:txBody>
      </p:sp>
      <p:sp>
        <p:nvSpPr>
          <p:cNvPr id="56" name="Flèche : bas 55">
            <a:extLst>
              <a:ext uri="{FF2B5EF4-FFF2-40B4-BE49-F238E27FC236}">
                <a16:creationId xmlns:a16="http://schemas.microsoft.com/office/drawing/2014/main" id="{B46E2CC0-01A4-4130-4C06-DAFB545F4011}"/>
              </a:ext>
            </a:extLst>
          </p:cNvPr>
          <p:cNvSpPr/>
          <p:nvPr/>
        </p:nvSpPr>
        <p:spPr>
          <a:xfrm>
            <a:off x="3521238" y="4339083"/>
            <a:ext cx="358789" cy="228789"/>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58" name="Flèche : bas 57">
            <a:extLst>
              <a:ext uri="{FF2B5EF4-FFF2-40B4-BE49-F238E27FC236}">
                <a16:creationId xmlns:a16="http://schemas.microsoft.com/office/drawing/2014/main" id="{439ED56A-197B-FDB3-8B3D-45A9C937D7D9}"/>
              </a:ext>
            </a:extLst>
          </p:cNvPr>
          <p:cNvSpPr/>
          <p:nvPr/>
        </p:nvSpPr>
        <p:spPr>
          <a:xfrm>
            <a:off x="3521236" y="4931094"/>
            <a:ext cx="358789" cy="228789"/>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60" name="Rectangle 59">
            <a:extLst>
              <a:ext uri="{FF2B5EF4-FFF2-40B4-BE49-F238E27FC236}">
                <a16:creationId xmlns:a16="http://schemas.microsoft.com/office/drawing/2014/main" id="{3CECD78D-9581-4A4E-170A-958FCE0E0BF8}"/>
              </a:ext>
            </a:extLst>
          </p:cNvPr>
          <p:cNvSpPr/>
          <p:nvPr/>
        </p:nvSpPr>
        <p:spPr>
          <a:xfrm>
            <a:off x="42170" y="5173135"/>
            <a:ext cx="7478509" cy="49322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u="sng" dirty="0">
                <a:solidFill>
                  <a:srgbClr val="C00000"/>
                </a:solidFill>
              </a:rPr>
              <a:t>3</a:t>
            </a:r>
            <a:r>
              <a:rPr lang="en-US" sz="1400" b="1" u="sng" baseline="30000" dirty="0">
                <a:solidFill>
                  <a:srgbClr val="C00000"/>
                </a:solidFill>
              </a:rPr>
              <a:t>rd</a:t>
            </a:r>
            <a:r>
              <a:rPr lang="en-US" sz="1400" b="1" u="sng" dirty="0">
                <a:solidFill>
                  <a:srgbClr val="C00000"/>
                </a:solidFill>
              </a:rPr>
              <a:t> </a:t>
            </a:r>
            <a:r>
              <a:rPr lang="en-US" sz="1400" b="1" u="sng" dirty="0" err="1">
                <a:solidFill>
                  <a:srgbClr val="C00000"/>
                </a:solidFill>
              </a:rPr>
              <a:t>Analyse</a:t>
            </a:r>
            <a:r>
              <a:rPr lang="en-US" sz="1400" b="1" u="sng" dirty="0">
                <a:solidFill>
                  <a:srgbClr val="C00000"/>
                </a:solidFill>
              </a:rPr>
              <a:t> station and 4</a:t>
            </a:r>
            <a:r>
              <a:rPr lang="en-US" sz="1400" b="1" u="sng" baseline="30000" dirty="0">
                <a:solidFill>
                  <a:srgbClr val="C00000"/>
                </a:solidFill>
              </a:rPr>
              <a:t>th</a:t>
            </a:r>
            <a:r>
              <a:rPr lang="en-US" sz="1400" b="1" u="sng" dirty="0">
                <a:solidFill>
                  <a:srgbClr val="C00000"/>
                </a:solidFill>
              </a:rPr>
              <a:t> </a:t>
            </a:r>
            <a:r>
              <a:rPr lang="en-US" sz="1400" b="1" u="sng" dirty="0" err="1">
                <a:solidFill>
                  <a:srgbClr val="C00000"/>
                </a:solidFill>
              </a:rPr>
              <a:t>Analyse</a:t>
            </a:r>
            <a:r>
              <a:rPr lang="en-US" sz="1400" b="1" u="sng" dirty="0">
                <a:solidFill>
                  <a:srgbClr val="C00000"/>
                </a:solidFill>
              </a:rPr>
              <a:t> Weather:</a:t>
            </a:r>
            <a:r>
              <a:rPr lang="en-US" sz="1400" dirty="0">
                <a:solidFill>
                  <a:schemeClr val="tx1"/>
                </a:solidFill>
              </a:rPr>
              <a:t> join by complex ID and by hourly weather</a:t>
            </a:r>
            <a:endParaRPr lang="fr-FR" sz="1400" dirty="0">
              <a:solidFill>
                <a:schemeClr val="tx1"/>
              </a:solidFill>
            </a:endParaRPr>
          </a:p>
        </p:txBody>
      </p:sp>
      <p:sp>
        <p:nvSpPr>
          <p:cNvPr id="62" name="Flèche : bas 61">
            <a:extLst>
              <a:ext uri="{FF2B5EF4-FFF2-40B4-BE49-F238E27FC236}">
                <a16:creationId xmlns:a16="http://schemas.microsoft.com/office/drawing/2014/main" id="{1DC9D934-2C07-DD7C-89AF-23AE62C4B057}"/>
              </a:ext>
            </a:extLst>
          </p:cNvPr>
          <p:cNvSpPr/>
          <p:nvPr/>
        </p:nvSpPr>
        <p:spPr>
          <a:xfrm>
            <a:off x="3527864" y="5675641"/>
            <a:ext cx="358789" cy="208266"/>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64" name="Rectangle 63">
            <a:extLst>
              <a:ext uri="{FF2B5EF4-FFF2-40B4-BE49-F238E27FC236}">
                <a16:creationId xmlns:a16="http://schemas.microsoft.com/office/drawing/2014/main" id="{106B2113-2C1E-52CF-BF5C-607D09E8846A}"/>
              </a:ext>
            </a:extLst>
          </p:cNvPr>
          <p:cNvSpPr/>
          <p:nvPr/>
        </p:nvSpPr>
        <p:spPr>
          <a:xfrm>
            <a:off x="1769168" y="6449269"/>
            <a:ext cx="4055164" cy="367997"/>
          </a:xfrm>
          <a:prstGeom prst="rect">
            <a:avLst/>
          </a:prstGeom>
          <a:solidFill>
            <a:srgbClr val="00B05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solidFill>
                  <a:schemeClr val="tx1"/>
                </a:solidFill>
              </a:rPr>
              <a:t>Results: CSV files and 4 figures</a:t>
            </a:r>
            <a:endParaRPr lang="fr-FR" sz="1400" dirty="0">
              <a:solidFill>
                <a:schemeClr val="tx1"/>
              </a:solidFill>
            </a:endParaRPr>
          </a:p>
        </p:txBody>
      </p:sp>
      <p:sp>
        <p:nvSpPr>
          <p:cNvPr id="66" name="Flèche : bas 65">
            <a:extLst>
              <a:ext uri="{FF2B5EF4-FFF2-40B4-BE49-F238E27FC236}">
                <a16:creationId xmlns:a16="http://schemas.microsoft.com/office/drawing/2014/main" id="{B1B6DF67-FEE4-7CEB-67B1-4ADBA16330EC}"/>
              </a:ext>
            </a:extLst>
          </p:cNvPr>
          <p:cNvSpPr/>
          <p:nvPr/>
        </p:nvSpPr>
        <p:spPr>
          <a:xfrm>
            <a:off x="3534492" y="6233619"/>
            <a:ext cx="358789" cy="208266"/>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68" name="ZoneTexte 67">
            <a:extLst>
              <a:ext uri="{FF2B5EF4-FFF2-40B4-BE49-F238E27FC236}">
                <a16:creationId xmlns:a16="http://schemas.microsoft.com/office/drawing/2014/main" id="{0FDB26C3-BABE-38CB-0E36-86D04A295A58}"/>
              </a:ext>
            </a:extLst>
          </p:cNvPr>
          <p:cNvSpPr txBox="1"/>
          <p:nvPr/>
        </p:nvSpPr>
        <p:spPr>
          <a:xfrm>
            <a:off x="-589" y="7130408"/>
            <a:ext cx="7562850" cy="1446550"/>
          </a:xfrm>
          <a:prstGeom prst="rect">
            <a:avLst/>
          </a:prstGeom>
          <a:noFill/>
        </p:spPr>
        <p:txBody>
          <a:bodyPr wrap="square" rtlCol="0">
            <a:spAutoFit/>
          </a:bodyPr>
          <a:lstStyle/>
          <a:p>
            <a:r>
              <a:rPr lang="fr-FR" sz="1100" b="1" dirty="0"/>
              <a:t>Download → Raw:</a:t>
            </a:r>
            <a:r>
              <a:rPr lang="fr-FR" sz="1100" dirty="0"/>
              <a:t> </a:t>
            </a:r>
            <a:r>
              <a:rPr lang="fr-FR" sz="1100" b="1" dirty="0"/>
              <a:t>00_download notebook: </a:t>
            </a:r>
            <a:r>
              <a:rPr lang="fr-FR" sz="1100" dirty="0" err="1"/>
              <a:t>it</a:t>
            </a:r>
            <a:r>
              <a:rPr lang="fr-FR" sz="1100" dirty="0"/>
              <a:t> downloads the </a:t>
            </a:r>
            <a:r>
              <a:rPr lang="fr-FR" sz="1100" dirty="0" err="1"/>
              <a:t>ridership</a:t>
            </a:r>
            <a:r>
              <a:rPr lang="fr-FR" sz="1100" dirty="0"/>
              <a:t> (12 files), stations (1 file) and </a:t>
            </a:r>
            <a:r>
              <a:rPr lang="fr-FR" sz="1100" dirty="0" err="1"/>
              <a:t>weather</a:t>
            </a:r>
            <a:r>
              <a:rPr lang="fr-FR" sz="1100" dirty="0"/>
              <a:t> (12 files) as CSV, the </a:t>
            </a:r>
            <a:r>
              <a:rPr lang="fr-FR" sz="1100" dirty="0" err="1"/>
              <a:t>whole</a:t>
            </a:r>
            <a:r>
              <a:rPr lang="fr-FR" sz="1100" dirty="0"/>
              <a:t> data sets are about 5.1 GB.</a:t>
            </a:r>
          </a:p>
          <a:p>
            <a:pPr lvl="0"/>
            <a:r>
              <a:rPr lang="fr-FR" sz="1100" b="1" dirty="0" err="1"/>
              <a:t>Ingest</a:t>
            </a:r>
            <a:r>
              <a:rPr lang="fr-FR" sz="1100" b="1" dirty="0"/>
              <a:t> → Bronze Layer:</a:t>
            </a:r>
            <a:r>
              <a:rPr lang="fr-FR" sz="1100" dirty="0"/>
              <a:t> </a:t>
            </a:r>
            <a:r>
              <a:rPr lang="fr-FR" sz="1100" b="1" dirty="0"/>
              <a:t>01_ingest</a:t>
            </a:r>
            <a:r>
              <a:rPr lang="fr-FR" sz="1100" dirty="0"/>
              <a:t> </a:t>
            </a:r>
            <a:r>
              <a:rPr lang="fr-FR" sz="1100" b="1" dirty="0"/>
              <a:t>notebook: </a:t>
            </a:r>
            <a:r>
              <a:rPr lang="fr-FR" sz="1100" dirty="0" err="1"/>
              <a:t>it</a:t>
            </a:r>
            <a:r>
              <a:rPr lang="fr-FR" sz="1100" dirty="0"/>
              <a:t> </a:t>
            </a:r>
            <a:r>
              <a:rPr lang="fr-FR" sz="1100" dirty="0" err="1"/>
              <a:t>reads</a:t>
            </a:r>
            <a:r>
              <a:rPr lang="fr-FR" sz="1100" dirty="0"/>
              <a:t> the CSV files </a:t>
            </a:r>
            <a:r>
              <a:rPr lang="fr-FR" sz="1100" dirty="0" err="1"/>
              <a:t>with</a:t>
            </a:r>
            <a:r>
              <a:rPr lang="fr-FR" sz="1100" dirty="0"/>
              <a:t> an explicit </a:t>
            </a:r>
            <a:r>
              <a:rPr lang="fr-FR" sz="1100" dirty="0" err="1"/>
              <a:t>schema</a:t>
            </a:r>
            <a:r>
              <a:rPr lang="fr-FR" sz="1100" dirty="0"/>
              <a:t> and </a:t>
            </a:r>
            <a:r>
              <a:rPr lang="fr-FR" sz="1100" dirty="0" err="1"/>
              <a:t>saves</a:t>
            </a:r>
            <a:r>
              <a:rPr lang="fr-FR" sz="1100" dirty="0"/>
              <a:t> </a:t>
            </a:r>
            <a:r>
              <a:rPr lang="fr-FR" sz="1100" dirty="0" err="1"/>
              <a:t>them</a:t>
            </a:r>
            <a:r>
              <a:rPr lang="fr-FR" sz="1100" dirty="0"/>
              <a:t> as </a:t>
            </a:r>
            <a:r>
              <a:rPr lang="fr-FR" sz="1100" dirty="0" err="1"/>
              <a:t>typed</a:t>
            </a:r>
            <a:r>
              <a:rPr lang="fr-FR" sz="1100" dirty="0"/>
              <a:t> Parquet.</a:t>
            </a:r>
          </a:p>
          <a:p>
            <a:pPr lvl="0"/>
            <a:r>
              <a:rPr lang="fr-FR" sz="1100" b="1" dirty="0"/>
              <a:t>Clean → Silver Layer:</a:t>
            </a:r>
            <a:r>
              <a:rPr lang="fr-FR" sz="1100" dirty="0"/>
              <a:t> </a:t>
            </a:r>
            <a:r>
              <a:rPr lang="fr-FR" sz="1100" b="1" dirty="0"/>
              <a:t>02_clean notebook:</a:t>
            </a:r>
            <a:r>
              <a:rPr lang="fr-FR" sz="1100" dirty="0"/>
              <a:t> </a:t>
            </a:r>
            <a:r>
              <a:rPr lang="fr-FR" sz="1100" dirty="0" err="1"/>
              <a:t>it</a:t>
            </a:r>
            <a:r>
              <a:rPr lang="fr-FR" sz="1100" dirty="0"/>
              <a:t> </a:t>
            </a:r>
            <a:r>
              <a:rPr lang="fr-FR" sz="1100" dirty="0" err="1"/>
              <a:t>applies</a:t>
            </a:r>
            <a:r>
              <a:rPr lang="fr-FR" sz="1100" dirty="0"/>
              <a:t> all of the 12 </a:t>
            </a:r>
            <a:r>
              <a:rPr lang="fr-FR" sz="1100" dirty="0" err="1"/>
              <a:t>cleaning</a:t>
            </a:r>
            <a:r>
              <a:rPr lang="fr-FR" sz="1100" dirty="0"/>
              <a:t> </a:t>
            </a:r>
            <a:r>
              <a:rPr lang="fr-FR" sz="1100" dirty="0" err="1"/>
              <a:t>rules</a:t>
            </a:r>
            <a:r>
              <a:rPr lang="fr-FR" sz="1100" dirty="0"/>
              <a:t> (6 for the </a:t>
            </a:r>
            <a:r>
              <a:rPr lang="fr-FR" sz="1100" dirty="0" err="1"/>
              <a:t>riderships</a:t>
            </a:r>
            <a:r>
              <a:rPr lang="fr-FR" sz="1100" dirty="0"/>
              <a:t> </a:t>
            </a:r>
            <a:r>
              <a:rPr lang="fr-FR" sz="1100" dirty="0" err="1"/>
              <a:t>dataset</a:t>
            </a:r>
            <a:r>
              <a:rPr lang="fr-FR" sz="1100" dirty="0"/>
              <a:t>, 2 for the stations </a:t>
            </a:r>
            <a:r>
              <a:rPr lang="fr-FR" sz="1100" dirty="0" err="1"/>
              <a:t>dataset</a:t>
            </a:r>
            <a:r>
              <a:rPr lang="fr-FR" sz="1100" dirty="0"/>
              <a:t> and 4 for the </a:t>
            </a:r>
            <a:r>
              <a:rPr lang="fr-FR" sz="1100" dirty="0" err="1"/>
              <a:t>weather</a:t>
            </a:r>
            <a:r>
              <a:rPr lang="fr-FR" sz="1100" dirty="0"/>
              <a:t> </a:t>
            </a:r>
            <a:r>
              <a:rPr lang="fr-FR" sz="1100" dirty="0" err="1"/>
              <a:t>dataset</a:t>
            </a:r>
            <a:r>
              <a:rPr lang="fr-FR" sz="1100" dirty="0"/>
              <a:t>)  and </a:t>
            </a:r>
            <a:r>
              <a:rPr lang="fr-FR" sz="1100" dirty="0" err="1"/>
              <a:t>results</a:t>
            </a:r>
            <a:r>
              <a:rPr lang="fr-FR" sz="1100" dirty="0"/>
              <a:t> in 3 clean tables </a:t>
            </a:r>
            <a:r>
              <a:rPr lang="fr-FR" sz="1100" dirty="0" err="1"/>
              <a:t>ready</a:t>
            </a:r>
            <a:r>
              <a:rPr lang="fr-FR" sz="1100" dirty="0"/>
              <a:t> to </a:t>
            </a:r>
            <a:r>
              <a:rPr lang="fr-FR" sz="1100" dirty="0" err="1"/>
              <a:t>join</a:t>
            </a:r>
            <a:r>
              <a:rPr lang="fr-FR" sz="1100" dirty="0"/>
              <a:t>.</a:t>
            </a:r>
          </a:p>
          <a:p>
            <a:pPr lvl="0"/>
            <a:r>
              <a:rPr lang="fr-FR" sz="1100" b="1" dirty="0" err="1"/>
              <a:t>Analysis</a:t>
            </a:r>
            <a:r>
              <a:rPr lang="fr-FR" sz="1100" b="1" dirty="0"/>
              <a:t> → Gold Layer:</a:t>
            </a:r>
            <a:r>
              <a:rPr lang="fr-FR" sz="1100" dirty="0"/>
              <a:t> </a:t>
            </a:r>
            <a:r>
              <a:rPr lang="fr-FR" sz="1100" b="1" dirty="0"/>
              <a:t>03_analyze_stations notebook:</a:t>
            </a:r>
            <a:r>
              <a:rPr lang="fr-FR" sz="1100" dirty="0"/>
              <a:t> </a:t>
            </a:r>
            <a:r>
              <a:rPr lang="fr-FR" sz="1100" dirty="0" err="1"/>
              <a:t>it</a:t>
            </a:r>
            <a:r>
              <a:rPr lang="fr-FR" sz="1100" dirty="0"/>
              <a:t>  </a:t>
            </a:r>
            <a:r>
              <a:rPr lang="fr-FR" sz="1100" dirty="0" err="1"/>
              <a:t>computes</a:t>
            </a:r>
            <a:r>
              <a:rPr lang="fr-FR" sz="1100" dirty="0"/>
              <a:t> the </a:t>
            </a:r>
            <a:r>
              <a:rPr lang="fr-FR" sz="1100" dirty="0" err="1"/>
              <a:t>usual</a:t>
            </a:r>
            <a:r>
              <a:rPr lang="fr-FR" sz="1100" dirty="0"/>
              <a:t> </a:t>
            </a:r>
            <a:r>
              <a:rPr lang="fr-FR" sz="1100" dirty="0" err="1"/>
              <a:t>ridership</a:t>
            </a:r>
            <a:r>
              <a:rPr lang="fr-FR" sz="1100" dirty="0"/>
              <a:t> per station and the </a:t>
            </a:r>
            <a:r>
              <a:rPr lang="fr-FR" sz="1100" dirty="0" err="1"/>
              <a:t>busiest</a:t>
            </a:r>
            <a:r>
              <a:rPr lang="fr-FR" sz="1100" dirty="0"/>
              <a:t> stations. </a:t>
            </a:r>
            <a:r>
              <a:rPr lang="fr-FR" sz="1100" b="1" dirty="0"/>
              <a:t>04_analyze_weather notebook:</a:t>
            </a:r>
            <a:r>
              <a:rPr lang="fr-FR" sz="1100" dirty="0"/>
              <a:t> </a:t>
            </a:r>
            <a:r>
              <a:rPr lang="fr-FR" sz="1100" dirty="0" err="1"/>
              <a:t>it</a:t>
            </a:r>
            <a:r>
              <a:rPr lang="fr-FR" sz="1100" dirty="0"/>
              <a:t> compares </a:t>
            </a:r>
            <a:r>
              <a:rPr lang="fr-FR" sz="1100" dirty="0" err="1"/>
              <a:t>rainy</a:t>
            </a:r>
            <a:r>
              <a:rPr lang="fr-FR" sz="1100" dirty="0"/>
              <a:t> and </a:t>
            </a:r>
            <a:r>
              <a:rPr lang="fr-FR" sz="1100" dirty="0" err="1"/>
              <a:t>snowy</a:t>
            </a:r>
            <a:r>
              <a:rPr lang="fr-FR" sz="1100" dirty="0"/>
              <a:t> </a:t>
            </a:r>
            <a:r>
              <a:rPr lang="fr-FR" sz="1100" dirty="0" err="1"/>
              <a:t>hours</a:t>
            </a:r>
            <a:r>
              <a:rPr lang="fr-FR" sz="1100" dirty="0"/>
              <a:t> </a:t>
            </a:r>
            <a:r>
              <a:rPr lang="fr-FR" sz="1100" dirty="0" err="1"/>
              <a:t>with</a:t>
            </a:r>
            <a:r>
              <a:rPr lang="fr-FR" sz="1100" dirty="0"/>
              <a:t> dry </a:t>
            </a:r>
            <a:r>
              <a:rPr lang="fr-FR" sz="1100" dirty="0" err="1"/>
              <a:t>weather</a:t>
            </a:r>
            <a:r>
              <a:rPr lang="fr-FR" sz="1100" dirty="0"/>
              <a:t> </a:t>
            </a:r>
            <a:r>
              <a:rPr lang="fr-FR" sz="1100" dirty="0" err="1"/>
              <a:t>hours</a:t>
            </a:r>
            <a:r>
              <a:rPr lang="fr-FR" sz="1100" dirty="0"/>
              <a:t>.</a:t>
            </a:r>
          </a:p>
          <a:p>
            <a:pPr lvl="0"/>
            <a:r>
              <a:rPr lang="fr-FR" sz="1100" b="1" dirty="0" err="1"/>
              <a:t>Results</a:t>
            </a:r>
            <a:r>
              <a:rPr lang="fr-FR" sz="1100" b="1" dirty="0"/>
              <a:t>:</a:t>
            </a:r>
            <a:r>
              <a:rPr lang="fr-FR" sz="1100" dirty="0"/>
              <a:t> </a:t>
            </a:r>
            <a:r>
              <a:rPr lang="fr-FR" sz="1100" dirty="0" err="1"/>
              <a:t>we</a:t>
            </a:r>
            <a:r>
              <a:rPr lang="fr-FR" sz="1100" dirty="0"/>
              <a:t> end up </a:t>
            </a:r>
            <a:r>
              <a:rPr lang="fr-FR" sz="1100" dirty="0" err="1"/>
              <a:t>with</a:t>
            </a:r>
            <a:r>
              <a:rPr lang="fr-FR" sz="1100" dirty="0"/>
              <a:t> CSV tables and </a:t>
            </a:r>
            <a:r>
              <a:rPr lang="fr-FR" sz="1100" dirty="0" err="1"/>
              <a:t>also</a:t>
            </a:r>
            <a:r>
              <a:rPr lang="fr-FR" sz="1100" dirty="0"/>
              <a:t> 4 figures.</a:t>
            </a:r>
          </a:p>
        </p:txBody>
      </p:sp>
      <p:sp>
        <p:nvSpPr>
          <p:cNvPr id="70" name="ZoneTexte 69">
            <a:extLst>
              <a:ext uri="{FF2B5EF4-FFF2-40B4-BE49-F238E27FC236}">
                <a16:creationId xmlns:a16="http://schemas.microsoft.com/office/drawing/2014/main" id="{6282B99E-37A1-4F8A-9AFD-8B5CA1111298}"/>
              </a:ext>
            </a:extLst>
          </p:cNvPr>
          <p:cNvSpPr txBox="1"/>
          <p:nvPr/>
        </p:nvSpPr>
        <p:spPr>
          <a:xfrm>
            <a:off x="19288" y="6850391"/>
            <a:ext cx="7508019" cy="307777"/>
          </a:xfrm>
          <a:prstGeom prst="rect">
            <a:avLst/>
          </a:prstGeom>
          <a:noFill/>
        </p:spPr>
        <p:txBody>
          <a:bodyPr wrap="square" rtlCol="0">
            <a:spAutoFit/>
          </a:bodyPr>
          <a:lstStyle/>
          <a:p>
            <a:r>
              <a:rPr lang="en-US" sz="1400" b="1" dirty="0"/>
              <a:t>B.   A description of the analysis process from raw data to results: </a:t>
            </a:r>
          </a:p>
        </p:txBody>
      </p:sp>
      <p:sp>
        <p:nvSpPr>
          <p:cNvPr id="6" name="Text 10">
            <a:extLst>
              <a:ext uri="{FF2B5EF4-FFF2-40B4-BE49-F238E27FC236}">
                <a16:creationId xmlns:a16="http://schemas.microsoft.com/office/drawing/2014/main" id="{A55A23D3-BC19-54E3-F81E-1AC8FBB884B4}"/>
              </a:ext>
            </a:extLst>
          </p:cNvPr>
          <p:cNvSpPr txBox="1"/>
          <p:nvPr/>
        </p:nvSpPr>
        <p:spPr>
          <a:xfrm>
            <a:off x="106241" y="8548715"/>
            <a:ext cx="7456019" cy="312555"/>
          </a:xfrm>
          <a:prstGeom prst="rect">
            <a:avLst/>
          </a:prstGeom>
          <a:noFill/>
          <a:ln/>
        </p:spPr>
        <p:txBody>
          <a:bodyPr wrap="square" lIns="0" tIns="0" rIns="0" bIns="0" rtlCol="0" anchor="ctr"/>
          <a:lstStyle/>
          <a:p>
            <a:pPr marL="12700"/>
            <a:r>
              <a:rPr lang="en-US" sz="1600" b="1" u="sng" dirty="0">
                <a:solidFill>
                  <a:schemeClr val="tx1"/>
                </a:solidFill>
              </a:rPr>
              <a:t>4/ </a:t>
            </a:r>
            <a:r>
              <a:rPr lang="en-US" sz="1600" b="1" u="sng" dirty="0">
                <a:latin typeface="Arial MT"/>
                <a:cs typeface="Arial MT"/>
              </a:rPr>
              <a:t>Data</a:t>
            </a:r>
            <a:r>
              <a:rPr lang="en-US" sz="1600" b="1" u="sng" spc="-45" dirty="0">
                <a:latin typeface="Arial MT"/>
                <a:cs typeface="Arial MT"/>
              </a:rPr>
              <a:t> </a:t>
            </a:r>
            <a:r>
              <a:rPr lang="en-US" sz="1600" b="1" u="sng" spc="-10" dirty="0">
                <a:latin typeface="Arial MT"/>
                <a:cs typeface="Arial MT"/>
              </a:rPr>
              <a:t>cleaning.</a:t>
            </a:r>
            <a:r>
              <a:rPr lang="en-US" sz="1600" b="1" u="sng" spc="-30" dirty="0">
                <a:latin typeface="Arial MT"/>
                <a:cs typeface="Arial MT"/>
              </a:rPr>
              <a:t> </a:t>
            </a:r>
            <a:r>
              <a:rPr lang="en-US" sz="1600" b="1" u="sng" dirty="0">
                <a:latin typeface="Arial MT"/>
                <a:cs typeface="Arial MT"/>
              </a:rPr>
              <a:t>what</a:t>
            </a:r>
            <a:r>
              <a:rPr lang="en-US" sz="1600" b="1" u="sng" spc="-35" dirty="0">
                <a:latin typeface="Arial MT"/>
                <a:cs typeface="Arial MT"/>
              </a:rPr>
              <a:t> we</a:t>
            </a:r>
            <a:r>
              <a:rPr lang="en-US" sz="1600" b="1" u="sng" spc="-30" dirty="0">
                <a:latin typeface="Arial MT"/>
                <a:cs typeface="Arial MT"/>
              </a:rPr>
              <a:t> </a:t>
            </a:r>
            <a:r>
              <a:rPr lang="en-US" sz="1600" b="1" u="sng" dirty="0">
                <a:latin typeface="Arial MT"/>
                <a:cs typeface="Arial MT"/>
              </a:rPr>
              <a:t>found,</a:t>
            </a:r>
            <a:r>
              <a:rPr lang="en-US" sz="1600" b="1" u="sng" spc="-30" dirty="0">
                <a:latin typeface="Arial MT"/>
                <a:cs typeface="Arial MT"/>
              </a:rPr>
              <a:t> </a:t>
            </a:r>
            <a:r>
              <a:rPr lang="en-US" sz="1600" b="1" u="sng" dirty="0">
                <a:latin typeface="Arial MT"/>
                <a:cs typeface="Arial MT"/>
              </a:rPr>
              <a:t>what</a:t>
            </a:r>
            <a:r>
              <a:rPr lang="en-US" sz="1600" b="1" u="sng" spc="-35" dirty="0">
                <a:latin typeface="Arial MT"/>
                <a:cs typeface="Arial MT"/>
              </a:rPr>
              <a:t> we</a:t>
            </a:r>
            <a:r>
              <a:rPr lang="en-US" sz="1600" b="1" u="sng" spc="-30" dirty="0">
                <a:latin typeface="Arial MT"/>
                <a:cs typeface="Arial MT"/>
              </a:rPr>
              <a:t> </a:t>
            </a:r>
            <a:r>
              <a:rPr lang="en-US" sz="1600" b="1" u="sng" dirty="0">
                <a:latin typeface="Arial MT"/>
                <a:cs typeface="Arial MT"/>
              </a:rPr>
              <a:t>did,</a:t>
            </a:r>
            <a:r>
              <a:rPr lang="en-US" sz="1600" b="1" u="sng" spc="-35" dirty="0">
                <a:latin typeface="Arial MT"/>
                <a:cs typeface="Arial MT"/>
              </a:rPr>
              <a:t> </a:t>
            </a:r>
            <a:r>
              <a:rPr lang="en-US" sz="1600" b="1" u="sng" dirty="0">
                <a:latin typeface="Arial MT"/>
                <a:cs typeface="Arial MT"/>
              </a:rPr>
              <a:t>row</a:t>
            </a:r>
            <a:r>
              <a:rPr lang="en-US" sz="1600" b="1" u="sng" spc="-30" dirty="0">
                <a:latin typeface="Arial MT"/>
                <a:cs typeface="Arial MT"/>
              </a:rPr>
              <a:t> </a:t>
            </a:r>
            <a:r>
              <a:rPr lang="en-US" sz="1600" b="1" u="sng" dirty="0">
                <a:latin typeface="Arial MT"/>
                <a:cs typeface="Arial MT"/>
              </a:rPr>
              <a:t>counts</a:t>
            </a:r>
            <a:r>
              <a:rPr lang="en-US" sz="1600" b="1" u="sng" spc="-30" dirty="0">
                <a:latin typeface="Arial MT"/>
                <a:cs typeface="Arial MT"/>
              </a:rPr>
              <a:t> </a:t>
            </a:r>
            <a:r>
              <a:rPr lang="en-US" sz="1600" b="1" u="sng" spc="-10" dirty="0">
                <a:latin typeface="Arial MT"/>
                <a:cs typeface="Arial MT"/>
              </a:rPr>
              <a:t>before/after</a:t>
            </a:r>
            <a:endParaRPr lang="en-US" sz="1600" b="1" u="sng" dirty="0">
              <a:latin typeface="Arial MT"/>
              <a:cs typeface="Arial MT"/>
            </a:endParaRPr>
          </a:p>
        </p:txBody>
      </p:sp>
      <p:sp>
        <p:nvSpPr>
          <p:cNvPr id="9" name="ZoneTexte 8">
            <a:extLst>
              <a:ext uri="{FF2B5EF4-FFF2-40B4-BE49-F238E27FC236}">
                <a16:creationId xmlns:a16="http://schemas.microsoft.com/office/drawing/2014/main" id="{DBFDF1C6-9301-F085-6116-9FC563952143}"/>
              </a:ext>
            </a:extLst>
          </p:cNvPr>
          <p:cNvSpPr txBox="1"/>
          <p:nvPr/>
        </p:nvSpPr>
        <p:spPr>
          <a:xfrm>
            <a:off x="-589" y="8839569"/>
            <a:ext cx="7562850" cy="1831271"/>
          </a:xfrm>
          <a:prstGeom prst="rect">
            <a:avLst/>
          </a:prstGeom>
          <a:noFill/>
        </p:spPr>
        <p:txBody>
          <a:bodyPr wrap="square" rtlCol="0">
            <a:spAutoFit/>
          </a:bodyPr>
          <a:lstStyle/>
          <a:p>
            <a:r>
              <a:rPr lang="en-US" sz="1400" b="1" dirty="0"/>
              <a:t>A.  Data Cleaning and what we have found: </a:t>
            </a:r>
          </a:p>
          <a:p>
            <a:pPr marL="171450" indent="-171450">
              <a:buFont typeface="Arial" panose="020B0604020202020204" pitchFamily="34" charset="0"/>
              <a:buChar char="•"/>
            </a:pPr>
            <a:r>
              <a:rPr lang="en-US" sz="1100" dirty="0"/>
              <a:t>The ridership dataset contains also tramway and railway stations data which we will not need. Also, The Station Complex ID is considered as a string but it is an integer in stations dataset. In addition, We found 1250 rows of data for an hour that doesn’t exist because of the switch to the summer hour on the 9</a:t>
            </a:r>
            <a:r>
              <a:rPr lang="en-US" sz="1100" baseline="30000" dirty="0"/>
              <a:t>th</a:t>
            </a:r>
            <a:r>
              <a:rPr lang="en-US" sz="1100" dirty="0"/>
              <a:t> of march 2025 at 2:00. Finally, we found that MTA writes multiple rows for the same station at the same hour.</a:t>
            </a:r>
          </a:p>
          <a:p>
            <a:pPr marL="171450" indent="-171450">
              <a:buFont typeface="Arial" panose="020B0604020202020204" pitchFamily="34" charset="0"/>
              <a:buChar char="•"/>
            </a:pPr>
            <a:r>
              <a:rPr lang="en-US" sz="1100" dirty="0"/>
              <a:t>In the Stations dataset, we found that the boroughs are written by codes (M, BK etc..) which doesn’t correlate with the ridership datasets because it has full names for the boroughs. Also, we found several rows per station complex</a:t>
            </a:r>
          </a:p>
          <a:p>
            <a:pPr marL="171450" indent="-171450">
              <a:buFont typeface="Arial" panose="020B0604020202020204" pitchFamily="34" charset="0"/>
              <a:buChar char="•"/>
            </a:pPr>
            <a:r>
              <a:rPr lang="en-US" sz="1100" dirty="0"/>
              <a:t>In the Weather dataset we have extra reports about the weather. There were also lines with very negligible rain value &lt;0.1 mm due to the weather measurement errors noted as “T”.  In addition, we found that we have 317 hours without any rain value  Finally, the time in this datasets does not change accordingly because usually New York time moves by 1 hour in summer time.</a:t>
            </a:r>
            <a:endParaRPr lang="en-US" sz="1100" b="1" dirty="0"/>
          </a:p>
        </p:txBody>
      </p:sp>
    </p:spTree>
    <p:extLst>
      <p:ext uri="{BB962C8B-B14F-4D97-AF65-F5344CB8AC3E}">
        <p14:creationId xmlns:p14="http://schemas.microsoft.com/office/powerpoint/2010/main" val="756410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ZoneTexte 9">
            <a:extLst>
              <a:ext uri="{FF2B5EF4-FFF2-40B4-BE49-F238E27FC236}">
                <a16:creationId xmlns:a16="http://schemas.microsoft.com/office/drawing/2014/main" id="{CD5E519F-9FBD-BB2B-975E-95BD1544A318}"/>
              </a:ext>
            </a:extLst>
          </p:cNvPr>
          <p:cNvSpPr txBox="1"/>
          <p:nvPr/>
        </p:nvSpPr>
        <p:spPr>
          <a:xfrm>
            <a:off x="-589" y="66748"/>
            <a:ext cx="7562850" cy="1708160"/>
          </a:xfrm>
          <a:prstGeom prst="rect">
            <a:avLst/>
          </a:prstGeom>
          <a:noFill/>
        </p:spPr>
        <p:txBody>
          <a:bodyPr wrap="square" rtlCol="0">
            <a:spAutoFit/>
          </a:bodyPr>
          <a:lstStyle/>
          <a:p>
            <a:pPr marL="342900" indent="-342900">
              <a:buAutoNum type="alphaUcPeriod" startAt="2"/>
            </a:pPr>
            <a:r>
              <a:rPr lang="en-US" sz="1400" b="1" dirty="0"/>
              <a:t>How did we proceed (what we did about the findings in data):</a:t>
            </a:r>
          </a:p>
          <a:p>
            <a:pPr marL="171450" indent="-171450">
              <a:buFont typeface="Arial" panose="020B0604020202020204" pitchFamily="34" charset="0"/>
              <a:buChar char="•"/>
            </a:pPr>
            <a:r>
              <a:rPr lang="en-US" sz="1100" dirty="0"/>
              <a:t>For the ridership dataset: We removed Tramway and Railway rows, we converted the complex ID to a number, we removed those 1250 rows for the hour that doesn’t exist and finally we added up in order to obtain one row per station complex and hour. </a:t>
            </a:r>
          </a:p>
          <a:p>
            <a:pPr marL="171450" indent="-171450">
              <a:buFont typeface="Arial" panose="020B0604020202020204" pitchFamily="34" charset="0"/>
              <a:buChar char="•"/>
            </a:pPr>
            <a:r>
              <a:rPr lang="en-US" sz="1100" dirty="0"/>
              <a:t>For the stations dataset: we replaced boroughs codes with full corresponding names and we grouped into one row per station complex instead of many rows.</a:t>
            </a:r>
          </a:p>
          <a:p>
            <a:pPr marL="171450" indent="-171450">
              <a:buFont typeface="Arial" panose="020B0604020202020204" pitchFamily="34" charset="0"/>
              <a:buChar char="•"/>
            </a:pPr>
            <a:r>
              <a:rPr lang="en-US" sz="1100" dirty="0"/>
              <a:t>For the weather dataset: we kept only the hourly weather reports and dropped others. We moved ahead with 1 hour for the summer time. We replaced the trace of rain T with 0. We also have merged to  obtain one row per hour. </a:t>
            </a:r>
          </a:p>
          <a:p>
            <a:r>
              <a:rPr lang="en-US" sz="1400" b="1" dirty="0"/>
              <a:t>C.  The row counts before/after:</a:t>
            </a:r>
          </a:p>
        </p:txBody>
      </p:sp>
      <p:graphicFrame>
        <p:nvGraphicFramePr>
          <p:cNvPr id="19" name="Table 0">
            <a:extLst>
              <a:ext uri="{FF2B5EF4-FFF2-40B4-BE49-F238E27FC236}">
                <a16:creationId xmlns:a16="http://schemas.microsoft.com/office/drawing/2014/main" id="{41453848-1E27-A6AB-CC73-435F8FA3FF06}"/>
              </a:ext>
            </a:extLst>
          </p:cNvPr>
          <p:cNvGraphicFramePr>
            <a:graphicFrameLocks noGrp="1"/>
          </p:cNvGraphicFramePr>
          <p:nvPr>
            <p:extLst>
              <p:ext uri="{D42A27DB-BD31-4B8C-83A1-F6EECF244321}">
                <p14:modId xmlns:p14="http://schemas.microsoft.com/office/powerpoint/2010/main" val="2550644882"/>
              </p:ext>
            </p:extLst>
          </p:nvPr>
        </p:nvGraphicFramePr>
        <p:xfrm>
          <a:off x="163510" y="1738269"/>
          <a:ext cx="7341480" cy="2011696"/>
        </p:xfrm>
        <a:graphic>
          <a:graphicData uri="http://schemas.openxmlformats.org/drawingml/2006/table">
            <a:tbl>
              <a:tblPr/>
              <a:tblGrid>
                <a:gridCol w="1622292">
                  <a:extLst>
                    <a:ext uri="{9D8B030D-6E8A-4147-A177-3AD203B41FA5}">
                      <a16:colId xmlns:a16="http://schemas.microsoft.com/office/drawing/2014/main" val="20000"/>
                    </a:ext>
                  </a:extLst>
                </a:gridCol>
                <a:gridCol w="2271450">
                  <a:extLst>
                    <a:ext uri="{9D8B030D-6E8A-4147-A177-3AD203B41FA5}">
                      <a16:colId xmlns:a16="http://schemas.microsoft.com/office/drawing/2014/main" val="20001"/>
                    </a:ext>
                  </a:extLst>
                </a:gridCol>
                <a:gridCol w="1723869">
                  <a:extLst>
                    <a:ext uri="{9D8B030D-6E8A-4147-A177-3AD203B41FA5}">
                      <a16:colId xmlns:a16="http://schemas.microsoft.com/office/drawing/2014/main" val="20002"/>
                    </a:ext>
                  </a:extLst>
                </a:gridCol>
                <a:gridCol w="1723869">
                  <a:extLst>
                    <a:ext uri="{9D8B030D-6E8A-4147-A177-3AD203B41FA5}">
                      <a16:colId xmlns:a16="http://schemas.microsoft.com/office/drawing/2014/main" val="1988369368"/>
                    </a:ext>
                  </a:extLst>
                </a:gridCol>
              </a:tblGrid>
              <a:tr h="249571">
                <a:tc>
                  <a:txBody>
                    <a:bodyPr/>
                    <a:lstStyle/>
                    <a:p>
                      <a:pPr algn="ctr" fontAlgn="b">
                        <a:buNone/>
                      </a:pPr>
                      <a:r>
                        <a:rPr lang="fr-FR" sz="1400" b="1" i="0" u="none" strike="noStrike" dirty="0">
                          <a:solidFill>
                            <a:schemeClr val="bg1"/>
                          </a:solidFill>
                          <a:effectLst/>
                          <a:latin typeface="Aptos Narrow" panose="020B0004020202020204" pitchFamily="34" charset="0"/>
                        </a:rPr>
                        <a:t>Table</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7030A0"/>
                    </a:solidFill>
                  </a:tcPr>
                </a:tc>
                <a:tc>
                  <a:txBody>
                    <a:bodyPr/>
                    <a:lstStyle/>
                    <a:p>
                      <a:pPr algn="ctr" fontAlgn="b">
                        <a:buNone/>
                      </a:pPr>
                      <a:r>
                        <a:rPr lang="fr-FR" sz="1400" b="1" i="0" u="none" strike="noStrike" dirty="0" err="1">
                          <a:solidFill>
                            <a:schemeClr val="bg1"/>
                          </a:solidFill>
                          <a:effectLst/>
                          <a:latin typeface="Aptos Narrow" panose="020B0004020202020204" pitchFamily="34" charset="0"/>
                        </a:rPr>
                        <a:t>Step</a:t>
                      </a:r>
                      <a:endParaRPr lang="fr-FR" sz="1400" b="1" i="0" u="none" strike="noStrike" dirty="0">
                        <a:solidFill>
                          <a:schemeClr val="bg1"/>
                        </a:solidFill>
                        <a:effectLst/>
                        <a:latin typeface="Aptos Narrow" panose="020B0004020202020204" pitchFamily="34" charset="0"/>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7030A0"/>
                    </a:solidFill>
                  </a:tcPr>
                </a:tc>
                <a:tc>
                  <a:txBody>
                    <a:bodyPr/>
                    <a:lstStyle/>
                    <a:p>
                      <a:pPr algn="ctr" fontAlgn="b">
                        <a:buNone/>
                      </a:pPr>
                      <a:r>
                        <a:rPr lang="fr-FR" sz="1400" b="1" i="0" u="none" strike="noStrike" dirty="0" err="1">
                          <a:solidFill>
                            <a:schemeClr val="bg1"/>
                          </a:solidFill>
                          <a:effectLst/>
                          <a:latin typeface="Aptos Narrow" panose="020B0004020202020204" pitchFamily="34" charset="0"/>
                        </a:rPr>
                        <a:t>Rows_Before</a:t>
                      </a:r>
                      <a:endParaRPr lang="fr-FR" sz="1400" b="1" i="0" u="none" strike="noStrike" dirty="0">
                        <a:solidFill>
                          <a:schemeClr val="bg1"/>
                        </a:solidFill>
                        <a:effectLst/>
                        <a:latin typeface="Aptos Narrow" panose="020B0004020202020204" pitchFamily="34" charset="0"/>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7030A0"/>
                    </a:solidFill>
                  </a:tcPr>
                </a:tc>
                <a:tc>
                  <a:txBody>
                    <a:bodyPr/>
                    <a:lstStyle/>
                    <a:p>
                      <a:pPr algn="ctr" fontAlgn="b">
                        <a:buNone/>
                      </a:pPr>
                      <a:r>
                        <a:rPr lang="fr-FR" sz="1400" b="1" i="0" u="none" strike="noStrike" dirty="0" err="1">
                          <a:solidFill>
                            <a:schemeClr val="bg1"/>
                          </a:solidFill>
                          <a:effectLst/>
                          <a:latin typeface="Aptos Narrow" panose="020B0004020202020204" pitchFamily="34" charset="0"/>
                        </a:rPr>
                        <a:t>Rows</a:t>
                      </a:r>
                      <a:r>
                        <a:rPr lang="fr-FR" sz="1400" b="1" i="0" u="none" strike="noStrike" dirty="0">
                          <a:solidFill>
                            <a:schemeClr val="bg1"/>
                          </a:solidFill>
                          <a:effectLst/>
                          <a:latin typeface="Aptos Narrow" panose="020B0004020202020204" pitchFamily="34" charset="0"/>
                        </a:rPr>
                        <a:t> After</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168712">
                <a:tc>
                  <a:txBody>
                    <a:bodyPr/>
                    <a:lstStyle/>
                    <a:p>
                      <a:pPr algn="ctr" fontAlgn="b">
                        <a:buNone/>
                      </a:pPr>
                      <a:r>
                        <a:rPr lang="fr-FR" sz="1100" b="0" i="0" u="none" strike="noStrike" dirty="0" err="1">
                          <a:solidFill>
                            <a:srgbClr val="000000"/>
                          </a:solidFill>
                          <a:effectLst/>
                          <a:latin typeface="Aptos Narrow" panose="020B0004020202020204" pitchFamily="34" charset="0"/>
                        </a:rPr>
                        <a:t>Ridership</a:t>
                      </a:r>
                      <a:endParaRPr lang="fr-FR" sz="1100" b="0"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R1 : </a:t>
                      </a:r>
                      <a:r>
                        <a:rPr lang="fr-FR" sz="1100" b="0" i="0" u="none" strike="noStrike" dirty="0" err="1">
                          <a:solidFill>
                            <a:srgbClr val="000000"/>
                          </a:solidFill>
                          <a:effectLst/>
                          <a:latin typeface="Aptos Narrow" panose="020B0004020202020204" pitchFamily="34" charset="0"/>
                        </a:rPr>
                        <a:t>keep</a:t>
                      </a:r>
                      <a:r>
                        <a:rPr lang="fr-FR" sz="1100" b="0" i="0" u="none" strike="noStrike" dirty="0">
                          <a:solidFill>
                            <a:srgbClr val="000000"/>
                          </a:solidFill>
                          <a:effectLst/>
                          <a:latin typeface="Aptos Narrow" panose="020B0004020202020204" pitchFamily="34" charset="0"/>
                        </a:rPr>
                        <a:t> the </a:t>
                      </a:r>
                      <a:r>
                        <a:rPr lang="fr-FR" sz="1100" b="0" i="0" u="none" strike="noStrike" dirty="0" err="1">
                          <a:solidFill>
                            <a:srgbClr val="000000"/>
                          </a:solidFill>
                          <a:effectLst/>
                          <a:latin typeface="Aptos Narrow" panose="020B0004020202020204" pitchFamily="34" charset="0"/>
                        </a:rPr>
                        <a:t>subway</a:t>
                      </a:r>
                      <a:r>
                        <a:rPr lang="fr-FR" sz="1100" b="0" i="0" u="none" strike="noStrike" dirty="0">
                          <a:solidFill>
                            <a:srgbClr val="000000"/>
                          </a:solidFill>
                          <a:effectLst/>
                          <a:latin typeface="Aptos Narrow" panose="020B0004020202020204" pitchFamily="34" charset="0"/>
                        </a:rPr>
                        <a:t> </a:t>
                      </a:r>
                      <a:r>
                        <a:rPr lang="fr-FR" sz="1100" b="0" i="0" u="none" strike="noStrike" dirty="0" err="1">
                          <a:solidFill>
                            <a:srgbClr val="000000"/>
                          </a:solidFill>
                          <a:effectLst/>
                          <a:latin typeface="Aptos Narrow" panose="020B0004020202020204" pitchFamily="34" charset="0"/>
                        </a:rPr>
                        <a:t>only</a:t>
                      </a:r>
                      <a:endParaRPr lang="fr-FR" sz="1100" b="0"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29375687</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29145131</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68712">
                <a:tc>
                  <a:txBody>
                    <a:bodyPr/>
                    <a:lstStyle/>
                    <a:p>
                      <a:pPr algn="ctr" fontAlgn="b">
                        <a:buNone/>
                      </a:pPr>
                      <a:r>
                        <a:rPr lang="fr-FR" sz="1100" b="0" i="0" u="none" strike="noStrike" dirty="0" err="1">
                          <a:solidFill>
                            <a:srgbClr val="000000"/>
                          </a:solidFill>
                          <a:effectLst/>
                          <a:latin typeface="Aptos Narrow" panose="020B0004020202020204" pitchFamily="34" charset="0"/>
                        </a:rPr>
                        <a:t>Ridership</a:t>
                      </a:r>
                      <a:endParaRPr lang="fr-FR" sz="1100" b="0"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R2 : drop </a:t>
                      </a:r>
                      <a:r>
                        <a:rPr lang="fr-FR" sz="1100" b="0" i="0" u="none" strike="noStrike" dirty="0" err="1">
                          <a:solidFill>
                            <a:srgbClr val="000000"/>
                          </a:solidFill>
                          <a:effectLst/>
                          <a:latin typeface="Aptos Narrow" panose="020B0004020202020204" pitchFamily="34" charset="0"/>
                        </a:rPr>
                        <a:t>missing</a:t>
                      </a:r>
                      <a:r>
                        <a:rPr lang="fr-FR" sz="1100" b="0" i="0" u="none" strike="noStrike" dirty="0">
                          <a:solidFill>
                            <a:srgbClr val="000000"/>
                          </a:solidFill>
                          <a:effectLst/>
                          <a:latin typeface="Aptos Narrow" panose="020B0004020202020204" pitchFamily="34" charset="0"/>
                        </a:rPr>
                        <a:t> or </a:t>
                      </a:r>
                      <a:r>
                        <a:rPr lang="fr-FR" sz="1100" b="0" i="0" u="none" strike="noStrike" dirty="0" err="1">
                          <a:solidFill>
                            <a:srgbClr val="000000"/>
                          </a:solidFill>
                          <a:effectLst/>
                          <a:latin typeface="Aptos Narrow" panose="020B0004020202020204" pitchFamily="34" charset="0"/>
                        </a:rPr>
                        <a:t>negative</a:t>
                      </a:r>
                      <a:r>
                        <a:rPr lang="fr-FR" sz="1100" b="0" i="0" u="none" strike="noStrike" dirty="0">
                          <a:solidFill>
                            <a:srgbClr val="000000"/>
                          </a:solidFill>
                          <a:effectLst/>
                          <a:latin typeface="Aptos Narrow" panose="020B0004020202020204" pitchFamily="34" charset="0"/>
                        </a:rPr>
                        <a:t> values</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29145131</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29145131</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68712">
                <a:tc>
                  <a:txBody>
                    <a:bodyPr/>
                    <a:lstStyle/>
                    <a:p>
                      <a:pPr algn="ctr" fontAlgn="b">
                        <a:buNone/>
                      </a:pPr>
                      <a:r>
                        <a:rPr lang="fr-FR" sz="1100" b="0" i="0" u="none" strike="noStrike" dirty="0" err="1">
                          <a:solidFill>
                            <a:srgbClr val="000000"/>
                          </a:solidFill>
                          <a:effectLst/>
                          <a:latin typeface="Aptos Narrow" panose="020B0004020202020204" pitchFamily="34" charset="0"/>
                        </a:rPr>
                        <a:t>Ridership</a:t>
                      </a:r>
                      <a:endParaRPr lang="fr-FR" sz="1100" b="0"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R3 :station id </a:t>
                      </a:r>
                      <a:r>
                        <a:rPr lang="fr-FR" sz="1100" b="0" i="0" u="none" strike="noStrike" dirty="0" err="1">
                          <a:solidFill>
                            <a:srgbClr val="000000"/>
                          </a:solidFill>
                          <a:effectLst/>
                          <a:latin typeface="Aptos Narrow" panose="020B0004020202020204" pitchFamily="34" charset="0"/>
                        </a:rPr>
                        <a:t>text</a:t>
                      </a:r>
                      <a:r>
                        <a:rPr lang="fr-FR" sz="1100" b="0" i="0" u="none" strike="noStrike" dirty="0">
                          <a:solidFill>
                            <a:srgbClr val="000000"/>
                          </a:solidFill>
                          <a:effectLst/>
                          <a:latin typeface="Aptos Narrow" panose="020B0004020202020204" pitchFamily="34" charset="0"/>
                        </a:rPr>
                        <a:t> -&gt; </a:t>
                      </a:r>
                      <a:r>
                        <a:rPr lang="fr-FR" sz="1100" b="0" i="0" u="none" strike="noStrike" dirty="0" err="1">
                          <a:solidFill>
                            <a:srgbClr val="000000"/>
                          </a:solidFill>
                          <a:effectLst/>
                          <a:latin typeface="Aptos Narrow" panose="020B0004020202020204" pitchFamily="34" charset="0"/>
                        </a:rPr>
                        <a:t>integer</a:t>
                      </a:r>
                      <a:endParaRPr lang="fr-FR" sz="1100" b="0"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29145131</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29145131</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28354">
                <a:tc>
                  <a:txBody>
                    <a:bodyPr/>
                    <a:lstStyle/>
                    <a:p>
                      <a:pPr algn="ctr" fontAlgn="b">
                        <a:buNone/>
                      </a:pPr>
                      <a:r>
                        <a:rPr lang="fr-FR" sz="1100" b="0" i="0" u="none" strike="noStrike" dirty="0" err="1">
                          <a:solidFill>
                            <a:srgbClr val="000000"/>
                          </a:solidFill>
                          <a:effectLst/>
                          <a:latin typeface="Aptos Narrow" panose="020B0004020202020204" pitchFamily="34" charset="0"/>
                        </a:rPr>
                        <a:t>Ridership</a:t>
                      </a:r>
                      <a:endParaRPr lang="fr-FR" sz="1100" b="0"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R4 : drop the </a:t>
                      </a:r>
                      <a:r>
                        <a:rPr lang="fr-FR" sz="1100" b="0" i="0" u="none" strike="noStrike" dirty="0" err="1">
                          <a:solidFill>
                            <a:srgbClr val="000000"/>
                          </a:solidFill>
                          <a:effectLst/>
                          <a:latin typeface="Aptos Narrow" panose="020B0004020202020204" pitchFamily="34" charset="0"/>
                        </a:rPr>
                        <a:t>hour</a:t>
                      </a:r>
                      <a:r>
                        <a:rPr lang="fr-FR" sz="1100" b="0" i="0" u="none" strike="noStrike" dirty="0">
                          <a:solidFill>
                            <a:srgbClr val="000000"/>
                          </a:solidFill>
                          <a:effectLst/>
                          <a:latin typeface="Aptos Narrow" panose="020B0004020202020204" pitchFamily="34" charset="0"/>
                        </a:rPr>
                        <a:t> </a:t>
                      </a:r>
                      <a:r>
                        <a:rPr lang="fr-FR" sz="1100" b="0" i="0" u="none" strike="noStrike" dirty="0" err="1">
                          <a:solidFill>
                            <a:srgbClr val="000000"/>
                          </a:solidFill>
                          <a:effectLst/>
                          <a:latin typeface="Aptos Narrow" panose="020B0004020202020204" pitchFamily="34" charset="0"/>
                        </a:rPr>
                        <a:t>that</a:t>
                      </a:r>
                      <a:r>
                        <a:rPr lang="fr-FR" sz="1100" b="0" i="0" u="none" strike="noStrike" dirty="0">
                          <a:solidFill>
                            <a:srgbClr val="000000"/>
                          </a:solidFill>
                          <a:effectLst/>
                          <a:latin typeface="Aptos Narrow" panose="020B0004020202020204" pitchFamily="34" charset="0"/>
                        </a:rPr>
                        <a:t> </a:t>
                      </a:r>
                      <a:r>
                        <a:rPr lang="fr-FR" sz="1100" b="0" i="0" u="none" strike="noStrike" dirty="0" err="1">
                          <a:solidFill>
                            <a:srgbClr val="000000"/>
                          </a:solidFill>
                          <a:effectLst/>
                          <a:latin typeface="Aptos Narrow" panose="020B0004020202020204" pitchFamily="34" charset="0"/>
                        </a:rPr>
                        <a:t>does</a:t>
                      </a:r>
                      <a:r>
                        <a:rPr lang="fr-FR" sz="1100" b="0" i="0" u="none" strike="noStrike" dirty="0">
                          <a:solidFill>
                            <a:srgbClr val="000000"/>
                          </a:solidFill>
                          <a:effectLst/>
                          <a:latin typeface="Aptos Narrow" panose="020B0004020202020204" pitchFamily="34" charset="0"/>
                        </a:rPr>
                        <a:t> not </a:t>
                      </a:r>
                      <a:r>
                        <a:rPr lang="fr-FR" sz="1100" b="0" i="0" u="none" strike="noStrike" dirty="0" err="1">
                          <a:solidFill>
                            <a:srgbClr val="000000"/>
                          </a:solidFill>
                          <a:effectLst/>
                          <a:latin typeface="Aptos Narrow" panose="020B0004020202020204" pitchFamily="34" charset="0"/>
                        </a:rPr>
                        <a:t>exist</a:t>
                      </a:r>
                      <a:r>
                        <a:rPr lang="fr-FR" sz="1100" b="0" i="0" u="none" strike="noStrike" dirty="0">
                          <a:solidFill>
                            <a:srgbClr val="000000"/>
                          </a:solidFill>
                          <a:effectLst/>
                          <a:latin typeface="Aptos Narrow" panose="020B0004020202020204" pitchFamily="34" charset="0"/>
                        </a:rPr>
                        <a:t> (2025-03-09 02:00)</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29145131</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29143881</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2335013312"/>
                  </a:ext>
                </a:extLst>
              </a:tr>
              <a:tr h="168712">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err="1">
                          <a:ln>
                            <a:noFill/>
                          </a:ln>
                          <a:solidFill>
                            <a:srgbClr val="000000"/>
                          </a:solidFill>
                          <a:effectLst/>
                          <a:uLnTx/>
                          <a:uFillTx/>
                          <a:latin typeface="Aptos Narrow"/>
                          <a:ea typeface="+mn-ea"/>
                          <a:cs typeface="+mn-cs"/>
                        </a:rPr>
                        <a:t>Ridership</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R5 : drop duplicate </a:t>
                      </a:r>
                      <a:r>
                        <a:rPr lang="fr-FR" sz="1100" b="0" i="0" u="none" strike="noStrike" dirty="0" err="1">
                          <a:solidFill>
                            <a:srgbClr val="000000"/>
                          </a:solidFill>
                          <a:effectLst/>
                          <a:latin typeface="Aptos Narrow" panose="020B0004020202020204" pitchFamily="34" charset="0"/>
                        </a:rPr>
                        <a:t>rows</a:t>
                      </a:r>
                      <a:endParaRPr lang="fr-FR" sz="1100" b="0"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29143881</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29143881</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3658057087"/>
                  </a:ext>
                </a:extLst>
              </a:tr>
              <a:tr h="168712">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err="1">
                          <a:ln>
                            <a:noFill/>
                          </a:ln>
                          <a:solidFill>
                            <a:srgbClr val="000000"/>
                          </a:solidFill>
                          <a:effectLst/>
                          <a:uLnTx/>
                          <a:uFillTx/>
                          <a:latin typeface="Aptos Narrow" panose="020B0004020202020204" pitchFamily="34" charset="0"/>
                          <a:ea typeface="+mn-ea"/>
                          <a:cs typeface="+mn-cs"/>
                        </a:rPr>
                        <a:t>Ridership</a:t>
                      </a:r>
                      <a:endParaRPr kumimoji="0" lang="fr-FR" sz="11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R6 : one </a:t>
                      </a:r>
                      <a:r>
                        <a:rPr lang="fr-FR" sz="1100" b="0" i="0" u="none" strike="noStrike" dirty="0" err="1">
                          <a:solidFill>
                            <a:srgbClr val="000000"/>
                          </a:solidFill>
                          <a:effectLst/>
                          <a:latin typeface="Aptos Narrow" panose="020B0004020202020204" pitchFamily="34" charset="0"/>
                        </a:rPr>
                        <a:t>row</a:t>
                      </a:r>
                      <a:r>
                        <a:rPr lang="fr-FR" sz="1100" b="0" i="0" u="none" strike="noStrike" dirty="0">
                          <a:solidFill>
                            <a:srgbClr val="000000"/>
                          </a:solidFill>
                          <a:effectLst/>
                          <a:latin typeface="Aptos Narrow" panose="020B0004020202020204" pitchFamily="34" charset="0"/>
                        </a:rPr>
                        <a:t> per station and </a:t>
                      </a:r>
                      <a:r>
                        <a:rPr lang="fr-FR" sz="1100" b="0" i="0" u="none" strike="noStrike" dirty="0" err="1">
                          <a:solidFill>
                            <a:srgbClr val="000000"/>
                          </a:solidFill>
                          <a:effectLst/>
                          <a:latin typeface="Aptos Narrow" panose="020B0004020202020204" pitchFamily="34" charset="0"/>
                        </a:rPr>
                        <a:t>hour</a:t>
                      </a:r>
                      <a:endParaRPr lang="fr-FR" sz="1100" b="0"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29143881</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3620146</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2072136771"/>
                  </a:ext>
                </a:extLst>
              </a:tr>
              <a:tr h="168712">
                <a:tc>
                  <a:txBody>
                    <a:bodyPr/>
                    <a:lstStyle/>
                    <a:p>
                      <a:pPr algn="ctr" fontAlgn="b">
                        <a:buNone/>
                      </a:pPr>
                      <a:r>
                        <a:rPr lang="fr-FR" sz="1100" b="0" i="0" u="none" strike="noStrike" dirty="0">
                          <a:solidFill>
                            <a:srgbClr val="000000"/>
                          </a:solidFill>
                          <a:effectLst/>
                          <a:latin typeface="Aptos Narrow" panose="020B0004020202020204" pitchFamily="34" charset="0"/>
                        </a:rPr>
                        <a:t>Stations</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S2 : one </a:t>
                      </a:r>
                      <a:r>
                        <a:rPr lang="fr-FR" sz="1100" b="0" i="0" u="none" strike="noStrike" dirty="0" err="1">
                          <a:solidFill>
                            <a:srgbClr val="000000"/>
                          </a:solidFill>
                          <a:effectLst/>
                          <a:latin typeface="Aptos Narrow" panose="020B0004020202020204" pitchFamily="34" charset="0"/>
                        </a:rPr>
                        <a:t>row</a:t>
                      </a:r>
                      <a:r>
                        <a:rPr lang="fr-FR" sz="1100" b="0" i="0" u="none" strike="noStrike" dirty="0">
                          <a:solidFill>
                            <a:srgbClr val="000000"/>
                          </a:solidFill>
                          <a:effectLst/>
                          <a:latin typeface="Aptos Narrow" panose="020B0004020202020204" pitchFamily="34" charset="0"/>
                        </a:rPr>
                        <a:t> per station </a:t>
                      </a:r>
                      <a:r>
                        <a:rPr lang="fr-FR" sz="1100" b="0" i="0" u="none" strike="noStrike" dirty="0" err="1">
                          <a:solidFill>
                            <a:srgbClr val="000000"/>
                          </a:solidFill>
                          <a:effectLst/>
                          <a:latin typeface="Aptos Narrow" panose="020B0004020202020204" pitchFamily="34" charset="0"/>
                        </a:rPr>
                        <a:t>complex</a:t>
                      </a:r>
                      <a:endParaRPr lang="fr-FR" sz="1100" b="0"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496</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445</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454758102"/>
                  </a:ext>
                </a:extLst>
              </a:tr>
              <a:tr h="168712">
                <a:tc>
                  <a:txBody>
                    <a:bodyPr/>
                    <a:lstStyle/>
                    <a:p>
                      <a:pPr algn="ctr" fontAlgn="b">
                        <a:buNone/>
                      </a:pPr>
                      <a:r>
                        <a:rPr lang="fr-FR" sz="1100" b="0" i="0" u="none" strike="noStrike" dirty="0">
                          <a:solidFill>
                            <a:srgbClr val="000000"/>
                          </a:solidFill>
                          <a:effectLst/>
                          <a:latin typeface="Aptos Narrow" panose="020B0004020202020204" pitchFamily="34" charset="0"/>
                        </a:rPr>
                        <a:t>Weather</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W1 : </a:t>
                      </a:r>
                      <a:r>
                        <a:rPr lang="fr-FR" sz="1100" b="0" i="0" u="none" strike="noStrike" dirty="0" err="1">
                          <a:solidFill>
                            <a:srgbClr val="000000"/>
                          </a:solidFill>
                          <a:effectLst/>
                          <a:latin typeface="Aptos Narrow" panose="020B0004020202020204" pitchFamily="34" charset="0"/>
                        </a:rPr>
                        <a:t>keep</a:t>
                      </a:r>
                      <a:r>
                        <a:rPr lang="fr-FR" sz="1100" b="0" i="0" u="none" strike="noStrike" dirty="0">
                          <a:solidFill>
                            <a:srgbClr val="000000"/>
                          </a:solidFill>
                          <a:effectLst/>
                          <a:latin typeface="Aptos Narrow" panose="020B0004020202020204" pitchFamily="34" charset="0"/>
                        </a:rPr>
                        <a:t> the </a:t>
                      </a:r>
                      <a:r>
                        <a:rPr lang="fr-FR" sz="1100" b="0" i="0" u="none" strike="noStrike" dirty="0" err="1">
                          <a:solidFill>
                            <a:srgbClr val="000000"/>
                          </a:solidFill>
                          <a:effectLst/>
                          <a:latin typeface="Aptos Narrow" panose="020B0004020202020204" pitchFamily="34" charset="0"/>
                        </a:rPr>
                        <a:t>hourly</a:t>
                      </a:r>
                      <a:r>
                        <a:rPr lang="fr-FR" sz="1100" b="0" i="0" u="none" strike="noStrike" dirty="0">
                          <a:solidFill>
                            <a:srgbClr val="000000"/>
                          </a:solidFill>
                          <a:effectLst/>
                          <a:latin typeface="Aptos Narrow" panose="020B0004020202020204" pitchFamily="34" charset="0"/>
                        </a:rPr>
                        <a:t> reports FM-15</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11765</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8771</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305246274"/>
                  </a:ext>
                </a:extLst>
              </a:tr>
              <a:tr h="168712">
                <a:tc>
                  <a:txBody>
                    <a:bodyPr/>
                    <a:lstStyle/>
                    <a:p>
                      <a:pPr algn="ctr" fontAlgn="b">
                        <a:buNone/>
                      </a:pPr>
                      <a:r>
                        <a:rPr lang="fr-FR" sz="1100" b="0" i="0" u="none" strike="noStrike" dirty="0">
                          <a:solidFill>
                            <a:srgbClr val="000000"/>
                          </a:solidFill>
                          <a:effectLst/>
                          <a:latin typeface="Aptos Narrow" panose="020B0004020202020204" pitchFamily="34" charset="0"/>
                        </a:rPr>
                        <a:t>Weather</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a:rPr>
                        <a:t>W4 : one </a:t>
                      </a:r>
                      <a:r>
                        <a:rPr lang="fr-FR" sz="1100" b="0" i="0" u="none" strike="noStrike" dirty="0" err="1">
                          <a:solidFill>
                            <a:srgbClr val="000000"/>
                          </a:solidFill>
                          <a:effectLst/>
                          <a:latin typeface="Aptos Narrow"/>
                        </a:rPr>
                        <a:t>row</a:t>
                      </a:r>
                      <a:r>
                        <a:rPr lang="fr-FR" sz="1100" b="0" i="0" u="none" strike="noStrike" dirty="0">
                          <a:solidFill>
                            <a:srgbClr val="000000"/>
                          </a:solidFill>
                          <a:effectLst/>
                          <a:latin typeface="Aptos Narrow"/>
                        </a:rPr>
                        <a:t> per New York </a:t>
                      </a:r>
                      <a:r>
                        <a:rPr lang="fr-FR" sz="1100" b="0" i="0" u="none" strike="noStrike" dirty="0" err="1">
                          <a:solidFill>
                            <a:srgbClr val="000000"/>
                          </a:solidFill>
                          <a:effectLst/>
                          <a:latin typeface="Aptos Narrow"/>
                        </a:rPr>
                        <a:t>hour</a:t>
                      </a:r>
                      <a:endParaRPr lang="fr-FR" sz="1100" b="0" i="0" u="none" strike="noStrike" dirty="0">
                        <a:solidFill>
                          <a:srgbClr val="000000"/>
                        </a:solidFill>
                        <a:effectLst/>
                        <a:latin typeface="Aptos Narrow"/>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8771</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8704</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2927219047"/>
                  </a:ext>
                </a:extLst>
              </a:tr>
            </a:tbl>
          </a:graphicData>
        </a:graphic>
      </p:graphicFrame>
      <p:sp>
        <p:nvSpPr>
          <p:cNvPr id="21" name="Text 10">
            <a:extLst>
              <a:ext uri="{FF2B5EF4-FFF2-40B4-BE49-F238E27FC236}">
                <a16:creationId xmlns:a16="http://schemas.microsoft.com/office/drawing/2014/main" id="{FAFE5FDC-44CB-E204-3DF3-67D264A52387}"/>
              </a:ext>
            </a:extLst>
          </p:cNvPr>
          <p:cNvSpPr txBox="1"/>
          <p:nvPr/>
        </p:nvSpPr>
        <p:spPr>
          <a:xfrm>
            <a:off x="98843" y="3834918"/>
            <a:ext cx="6647688" cy="241533"/>
          </a:xfrm>
          <a:prstGeom prst="rect">
            <a:avLst/>
          </a:prstGeom>
          <a:noFill/>
          <a:ln/>
        </p:spPr>
        <p:txBody>
          <a:bodyPr wrap="square" lIns="0" tIns="0" rIns="0" bIns="0" rtlCol="0" anchor="ctr"/>
          <a:lstStyle/>
          <a:p>
            <a:pPr marL="12700"/>
            <a:r>
              <a:rPr lang="en-US" sz="1600" b="1" u="sng" dirty="0"/>
              <a:t>5</a:t>
            </a:r>
            <a:r>
              <a:rPr lang="en-US" sz="1600" b="1" u="sng" dirty="0">
                <a:solidFill>
                  <a:schemeClr val="tx1"/>
                </a:solidFill>
              </a:rPr>
              <a:t>/</a:t>
            </a:r>
            <a:r>
              <a:rPr lang="en-US" sz="1600" b="1" u="sng" dirty="0"/>
              <a:t> Important design decisions</a:t>
            </a:r>
            <a:endParaRPr lang="en-US" sz="1600" b="1" u="sng" dirty="0">
              <a:latin typeface="Arial MT"/>
              <a:cs typeface="Arial MT"/>
            </a:endParaRPr>
          </a:p>
        </p:txBody>
      </p:sp>
      <p:sp>
        <p:nvSpPr>
          <p:cNvPr id="2" name="ZoneTexte 9">
            <a:extLst>
              <a:ext uri="{FF2B5EF4-FFF2-40B4-BE49-F238E27FC236}">
                <a16:creationId xmlns:a16="http://schemas.microsoft.com/office/drawing/2014/main" id="{367AE3C5-3F12-BCCE-B71D-185643BEBE67}"/>
              </a:ext>
            </a:extLst>
          </p:cNvPr>
          <p:cNvSpPr txBox="1"/>
          <p:nvPr/>
        </p:nvSpPr>
        <p:spPr>
          <a:xfrm>
            <a:off x="85216" y="4854922"/>
            <a:ext cx="7425657" cy="307777"/>
          </a:xfrm>
          <a:prstGeom prst="rect">
            <a:avLst/>
          </a:prstGeom>
          <a:noFill/>
        </p:spPr>
        <p:txBody>
          <a:bodyPr wrap="square" lIns="91440" tIns="45720" rIns="91440" bIns="45720" rtlCol="0" anchor="t">
            <a:spAutoFit/>
          </a:bodyPr>
          <a:lstStyle/>
          <a:p>
            <a:r>
              <a:rPr lang="en-US" sz="1400" b="1" dirty="0">
                <a:ea typeface="Calibri"/>
                <a:cs typeface="Calibri"/>
              </a:rPr>
              <a:t>2. Aggregate ridership by station complex and hour</a:t>
            </a:r>
            <a:endParaRPr lang="en-US" dirty="0"/>
          </a:p>
        </p:txBody>
      </p:sp>
      <p:sp>
        <p:nvSpPr>
          <p:cNvPr id="3" name="ZoneTexte 9">
            <a:extLst>
              <a:ext uri="{FF2B5EF4-FFF2-40B4-BE49-F238E27FC236}">
                <a16:creationId xmlns:a16="http://schemas.microsoft.com/office/drawing/2014/main" id="{EE50D534-CABA-7F4E-AC8C-C0E30ACE7494}"/>
              </a:ext>
            </a:extLst>
          </p:cNvPr>
          <p:cNvSpPr txBox="1"/>
          <p:nvPr/>
        </p:nvSpPr>
        <p:spPr>
          <a:xfrm>
            <a:off x="-13020" y="5137193"/>
            <a:ext cx="7541133" cy="430887"/>
          </a:xfrm>
          <a:prstGeom prst="rect">
            <a:avLst/>
          </a:prstGeom>
          <a:noFill/>
        </p:spPr>
        <p:txBody>
          <a:bodyPr wrap="square" lIns="91440" tIns="45720" rIns="91440" bIns="45720" rtlCol="0" anchor="t">
            <a:spAutoFit/>
          </a:bodyPr>
          <a:lstStyle/>
          <a:p>
            <a:pPr>
              <a:buFont typeface="Arial"/>
              <a:buChar char="•"/>
            </a:pPr>
            <a:r>
              <a:rPr lang="en-US" sz="1100" dirty="0">
                <a:ea typeface="+mn-lt"/>
                <a:cs typeface="+mn-lt"/>
              </a:rPr>
              <a:t>    The raw MTA data contains multiple records for the same station complex and hour, including different fare categories</a:t>
            </a:r>
            <a:r>
              <a:rPr lang="en-US" sz="1100" b="1" dirty="0">
                <a:ea typeface="+mn-lt"/>
                <a:cs typeface="+mn-lt"/>
              </a:rPr>
              <a:t>.</a:t>
            </a:r>
            <a:r>
              <a:rPr lang="en-US" sz="1100" dirty="0">
                <a:ea typeface="+mn-lt"/>
                <a:cs typeface="+mn-lt"/>
              </a:rPr>
              <a:t> Summing those records produces one ridership value per station complex per hour.</a:t>
            </a:r>
          </a:p>
        </p:txBody>
      </p:sp>
      <p:sp>
        <p:nvSpPr>
          <p:cNvPr id="4" name="ZoneTexte 9">
            <a:extLst>
              <a:ext uri="{FF2B5EF4-FFF2-40B4-BE49-F238E27FC236}">
                <a16:creationId xmlns:a16="http://schemas.microsoft.com/office/drawing/2014/main" id="{A6F6051D-6372-B032-31BC-D786C45DB5CC}"/>
              </a:ext>
            </a:extLst>
          </p:cNvPr>
          <p:cNvSpPr txBox="1"/>
          <p:nvPr/>
        </p:nvSpPr>
        <p:spPr>
          <a:xfrm>
            <a:off x="85375" y="5547217"/>
            <a:ext cx="7391359" cy="307777"/>
          </a:xfrm>
          <a:prstGeom prst="rect">
            <a:avLst/>
          </a:prstGeom>
          <a:noFill/>
        </p:spPr>
        <p:txBody>
          <a:bodyPr wrap="square" lIns="91440" tIns="45720" rIns="91440" bIns="45720" rtlCol="0" anchor="t">
            <a:spAutoFit/>
          </a:bodyPr>
          <a:lstStyle/>
          <a:p>
            <a:r>
              <a:rPr lang="en-US" sz="1400" b="1" dirty="0"/>
              <a:t>3. The use of dry weather as the baseline</a:t>
            </a:r>
            <a:endParaRPr lang="en-US" sz="1400" b="1" dirty="0">
              <a:ea typeface="Calibri"/>
              <a:cs typeface="Calibri"/>
            </a:endParaRPr>
          </a:p>
        </p:txBody>
      </p:sp>
      <p:sp>
        <p:nvSpPr>
          <p:cNvPr id="5" name="ZoneTexte 9">
            <a:extLst>
              <a:ext uri="{FF2B5EF4-FFF2-40B4-BE49-F238E27FC236}">
                <a16:creationId xmlns:a16="http://schemas.microsoft.com/office/drawing/2014/main" id="{1304BC42-20AB-5BFB-7C0B-AC94AB8AC53E}"/>
              </a:ext>
            </a:extLst>
          </p:cNvPr>
          <p:cNvSpPr txBox="1"/>
          <p:nvPr/>
        </p:nvSpPr>
        <p:spPr>
          <a:xfrm>
            <a:off x="-9053" y="5796821"/>
            <a:ext cx="7562849" cy="43088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1100" dirty="0">
                <a:ea typeface="+mn-lt"/>
                <a:cs typeface="+mn-lt"/>
              </a:rPr>
              <a:t>Dry hours represent the reference condition against which rainy and snowy hours are compared</a:t>
            </a:r>
            <a:r>
              <a:rPr lang="en-US" sz="1100" dirty="0">
                <a:ea typeface="Calibri"/>
                <a:cs typeface="Calibri"/>
              </a:rPr>
              <a:t> . </a:t>
            </a:r>
            <a:r>
              <a:rPr lang="en-US" sz="1100" dirty="0">
                <a:ea typeface="+mn-lt"/>
                <a:cs typeface="+mn-lt"/>
              </a:rPr>
              <a:t>To make this comparison fairer, we calculated usual ridership for matching month, day of the week, and hour of the day</a:t>
            </a:r>
          </a:p>
        </p:txBody>
      </p:sp>
      <p:sp>
        <p:nvSpPr>
          <p:cNvPr id="7" name="Text 10">
            <a:extLst>
              <a:ext uri="{FF2B5EF4-FFF2-40B4-BE49-F238E27FC236}">
                <a16:creationId xmlns:a16="http://schemas.microsoft.com/office/drawing/2014/main" id="{0B645DD0-7BE1-9259-62D6-50F1F8BAA7A6}"/>
              </a:ext>
            </a:extLst>
          </p:cNvPr>
          <p:cNvSpPr txBox="1"/>
          <p:nvPr/>
        </p:nvSpPr>
        <p:spPr>
          <a:xfrm>
            <a:off x="158508" y="6220631"/>
            <a:ext cx="7318226" cy="31970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r>
              <a:rPr lang="en-US" sz="1400" b="1" dirty="0">
                <a:ea typeface="+mn-lt"/>
                <a:cs typeface="+mn-lt"/>
              </a:rPr>
              <a:t>4. Excluding records with missing weather conditions</a:t>
            </a:r>
            <a:endParaRPr lang="en-US" sz="1400" b="1" dirty="0">
              <a:ea typeface="Calibri"/>
              <a:cs typeface="Calibri"/>
            </a:endParaRPr>
          </a:p>
        </p:txBody>
      </p:sp>
      <p:sp>
        <p:nvSpPr>
          <p:cNvPr id="13" name="Text 10">
            <a:extLst>
              <a:ext uri="{FF2B5EF4-FFF2-40B4-BE49-F238E27FC236}">
                <a16:creationId xmlns:a16="http://schemas.microsoft.com/office/drawing/2014/main" id="{F42CA090-405E-71E1-94E7-52F6D0601026}"/>
              </a:ext>
            </a:extLst>
          </p:cNvPr>
          <p:cNvSpPr txBox="1"/>
          <p:nvPr/>
        </p:nvSpPr>
        <p:spPr>
          <a:xfrm>
            <a:off x="106241" y="6904876"/>
            <a:ext cx="6647688" cy="36158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r>
              <a:rPr lang="en-US" sz="1600" b="1" u="sng" dirty="0">
                <a:solidFill>
                  <a:schemeClr val="tx1"/>
                </a:solidFill>
              </a:rPr>
              <a:t>6/</a:t>
            </a:r>
            <a:r>
              <a:rPr lang="en-US" sz="1600" b="1" u="sng" dirty="0"/>
              <a:t> The answer to our part 1 Sub-question</a:t>
            </a:r>
            <a:endParaRPr lang="en-US" sz="1600" b="1" u="sng" dirty="0">
              <a:latin typeface="Arial MT"/>
              <a:cs typeface="Arial MT"/>
            </a:endParaRPr>
          </a:p>
        </p:txBody>
      </p:sp>
      <p:sp>
        <p:nvSpPr>
          <p:cNvPr id="15" name="Text 10">
            <a:extLst>
              <a:ext uri="{FF2B5EF4-FFF2-40B4-BE49-F238E27FC236}">
                <a16:creationId xmlns:a16="http://schemas.microsoft.com/office/drawing/2014/main" id="{AC32B3E8-8D9B-3BD5-E0F8-0476383DEBF0}"/>
              </a:ext>
            </a:extLst>
          </p:cNvPr>
          <p:cNvSpPr txBox="1"/>
          <p:nvPr/>
        </p:nvSpPr>
        <p:spPr>
          <a:xfrm>
            <a:off x="21716" y="7215402"/>
            <a:ext cx="7541133" cy="41385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r>
              <a:rPr lang="en-US" sz="1100" b="1" dirty="0"/>
              <a:t>The Sub-question</a:t>
            </a:r>
            <a:r>
              <a:rPr lang="en-US" sz="1100" dirty="0"/>
              <a:t>: What is the usual ridership in each area (by subway station) by hour and day of the week, and by how much does the weather change it?. </a:t>
            </a:r>
            <a:r>
              <a:rPr lang="en-US" sz="1100" b="1" dirty="0"/>
              <a:t>Answer :</a:t>
            </a:r>
            <a:endParaRPr lang="en-US" sz="1100" b="1" u="sng" dirty="0">
              <a:latin typeface="Calibri"/>
              <a:ea typeface="Calibri"/>
              <a:cs typeface="Calibri"/>
            </a:endParaRPr>
          </a:p>
        </p:txBody>
      </p:sp>
      <p:sp>
        <p:nvSpPr>
          <p:cNvPr id="17" name="Text 10">
            <a:extLst>
              <a:ext uri="{FF2B5EF4-FFF2-40B4-BE49-F238E27FC236}">
                <a16:creationId xmlns:a16="http://schemas.microsoft.com/office/drawing/2014/main" id="{DD275B3A-C32C-C135-71EE-4E879D28051D}"/>
              </a:ext>
            </a:extLst>
          </p:cNvPr>
          <p:cNvSpPr txBox="1"/>
          <p:nvPr/>
        </p:nvSpPr>
        <p:spPr>
          <a:xfrm>
            <a:off x="184968" y="7621844"/>
            <a:ext cx="7315200" cy="2293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a:t>Usual ridership and effect of the weather (change vs. comparable dry hours)</a:t>
            </a:r>
            <a:endParaRPr lang="en-US" sz="1400" b="1" dirty="0">
              <a:ea typeface="Calibri"/>
              <a:cs typeface="Calibri"/>
            </a:endParaRPr>
          </a:p>
        </p:txBody>
      </p:sp>
      <p:graphicFrame>
        <p:nvGraphicFramePr>
          <p:cNvPr id="27" name="Table 16">
            <a:extLst>
              <a:ext uri="{FF2B5EF4-FFF2-40B4-BE49-F238E27FC236}">
                <a16:creationId xmlns:a16="http://schemas.microsoft.com/office/drawing/2014/main" id="{EF03842D-6D45-D93B-E83A-DC1F43BD521E}"/>
              </a:ext>
            </a:extLst>
          </p:cNvPr>
          <p:cNvGraphicFramePr>
            <a:graphicFrameLocks noGrp="1"/>
          </p:cNvGraphicFramePr>
          <p:nvPr>
            <p:extLst>
              <p:ext uri="{D42A27DB-BD31-4B8C-83A1-F6EECF244321}">
                <p14:modId xmlns:p14="http://schemas.microsoft.com/office/powerpoint/2010/main" val="2300984123"/>
              </p:ext>
            </p:extLst>
          </p:nvPr>
        </p:nvGraphicFramePr>
        <p:xfrm>
          <a:off x="17147" y="7878087"/>
          <a:ext cx="7510780" cy="1722120"/>
        </p:xfrm>
        <a:graphic>
          <a:graphicData uri="http://schemas.openxmlformats.org/drawingml/2006/table">
            <a:tbl>
              <a:tblPr bandRow="1">
                <a:tableStyleId>{5C22544A-7EE6-4342-B048-85BDC9FD1C3A}</a:tableStyleId>
              </a:tblPr>
              <a:tblGrid>
                <a:gridCol w="1092200">
                  <a:extLst>
                    <a:ext uri="{9D8B030D-6E8A-4147-A177-3AD203B41FA5}">
                      <a16:colId xmlns:a16="http://schemas.microsoft.com/office/drawing/2014/main" val="129859399"/>
                    </a:ext>
                  </a:extLst>
                </a:gridCol>
                <a:gridCol w="1219200">
                  <a:extLst>
                    <a:ext uri="{9D8B030D-6E8A-4147-A177-3AD203B41FA5}">
                      <a16:colId xmlns:a16="http://schemas.microsoft.com/office/drawing/2014/main" val="4230606441"/>
                    </a:ext>
                  </a:extLst>
                </a:gridCol>
                <a:gridCol w="2235200">
                  <a:extLst>
                    <a:ext uri="{9D8B030D-6E8A-4147-A177-3AD203B41FA5}">
                      <a16:colId xmlns:a16="http://schemas.microsoft.com/office/drawing/2014/main" val="389008135"/>
                    </a:ext>
                  </a:extLst>
                </a:gridCol>
                <a:gridCol w="952500">
                  <a:extLst>
                    <a:ext uri="{9D8B030D-6E8A-4147-A177-3AD203B41FA5}">
                      <a16:colId xmlns:a16="http://schemas.microsoft.com/office/drawing/2014/main" val="2395327052"/>
                    </a:ext>
                  </a:extLst>
                </a:gridCol>
                <a:gridCol w="965200">
                  <a:extLst>
                    <a:ext uri="{9D8B030D-6E8A-4147-A177-3AD203B41FA5}">
                      <a16:colId xmlns:a16="http://schemas.microsoft.com/office/drawing/2014/main" val="893712690"/>
                    </a:ext>
                  </a:extLst>
                </a:gridCol>
                <a:gridCol w="1046480">
                  <a:extLst>
                    <a:ext uri="{9D8B030D-6E8A-4147-A177-3AD203B41FA5}">
                      <a16:colId xmlns:a16="http://schemas.microsoft.com/office/drawing/2014/main" val="2546980700"/>
                    </a:ext>
                  </a:extLst>
                </a:gridCol>
              </a:tblGrid>
              <a:tr h="221370">
                <a:tc>
                  <a:txBody>
                    <a:bodyPr/>
                    <a:lstStyle/>
                    <a:p>
                      <a:pPr>
                        <a:buNone/>
                      </a:pPr>
                      <a:r>
                        <a:rPr lang="en-US" sz="1100" b="1">
                          <a:latin typeface="Calibri" panose="020F0502020204030204" pitchFamily="34" charset="0"/>
                        </a:rPr>
                        <a:t>Area</a:t>
                      </a:r>
                      <a:endParaRPr lang="en-US" sz="1100" b="1" dirty="0">
                        <a:latin typeface="Calibri" panose="020F050202020403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b="1">
                          <a:latin typeface="Calibri" panose="020F0502020204030204" pitchFamily="34" charset="0"/>
                        </a:rPr>
                        <a:t>Usual riders per day</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b="1">
                          <a:latin typeface="Calibri" panose="020F0502020204030204" pitchFamily="34" charset="0"/>
                        </a:rPr>
                        <a:t>Busiest station (riders per day)</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b="1">
                          <a:latin typeface="Calibri" panose="020F0502020204030204" pitchFamily="34" charset="0"/>
                        </a:rPr>
                        <a:t>Light rain</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noFill/>
                  </a:tcPr>
                </a:tc>
                <a:tc>
                  <a:txBody>
                    <a:bodyPr/>
                    <a:lstStyle/>
                    <a:p>
                      <a:pPr>
                        <a:buNone/>
                      </a:pPr>
                      <a:r>
                        <a:rPr lang="en-US" sz="1100" b="1">
                          <a:latin typeface="Calibri" panose="020F0502020204030204" pitchFamily="34" charset="0"/>
                        </a:rPr>
                        <a:t>Heavy rain</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buNone/>
                      </a:pPr>
                      <a:r>
                        <a:rPr lang="en-US" sz="1100" b="1">
                          <a:latin typeface="Calibri" panose="020F0502020204030204" pitchFamily="34" charset="0"/>
                        </a:rPr>
                        <a:t>Snow</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4128642"/>
                  </a:ext>
                </a:extLst>
              </a:tr>
              <a:tr h="221370">
                <a:tc>
                  <a:txBody>
                    <a:bodyPr/>
                    <a:lstStyle/>
                    <a:p>
                      <a:pPr>
                        <a:buNone/>
                      </a:pPr>
                      <a:r>
                        <a:rPr lang="en-US" sz="1100" b="1">
                          <a:latin typeface="Calibri" panose="020F0502020204030204" pitchFamily="34" charset="0"/>
                        </a:rPr>
                        <a:t>Whole network</a:t>
                      </a:r>
                      <a:endParaRPr lang="en-US" sz="1100" b="1" dirty="0">
                        <a:latin typeface="Calibri" panose="020F0502020204030204" pitchFamily="34" charset="0"/>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buNone/>
                      </a:pPr>
                      <a:r>
                        <a:rPr lang="en-US" sz="1100" b="1">
                          <a:latin typeface="Calibri" panose="020F0502020204030204" pitchFamily="34" charset="0"/>
                        </a:rPr>
                        <a:t>3,437,236</a:t>
                      </a:r>
                      <a:endParaRPr lang="en-US" sz="1100" b="1" dirty="0">
                        <a:latin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buNone/>
                      </a:pPr>
                      <a:r>
                        <a:rPr lang="en-US" sz="1100" b="1">
                          <a:latin typeface="Calibri" panose="020F0502020204030204" pitchFamily="34" charset="0"/>
                        </a:rPr>
                        <a:t>Times Sq-42 St (129,777)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buNone/>
                      </a:pPr>
                      <a:r>
                        <a:rPr lang="en-US" sz="1100" b="1">
                          <a:latin typeface="Calibri" panose="020F0502020204030204" pitchFamily="34"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buNone/>
                      </a:pPr>
                      <a:r>
                        <a:rPr lang="en-US" sz="1100" b="1">
                          <a:latin typeface="Calibri" panose="020F0502020204030204" pitchFamily="34"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b="1">
                          <a:latin typeface="Calibri" panose="020F0502020204030204" pitchFamily="34" charset="0"/>
                        </a:rPr>
                        <a:t>−4.8%</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8930611"/>
                  </a:ext>
                </a:extLst>
              </a:tr>
              <a:tr h="221370">
                <a:tc>
                  <a:txBody>
                    <a:bodyPr/>
                    <a:lstStyle/>
                    <a:p>
                      <a:pPr>
                        <a:buNone/>
                      </a:pPr>
                      <a:r>
                        <a:rPr lang="en-US" sz="1100" b="0">
                          <a:latin typeface="Calibri" panose="020F0502020204030204" pitchFamily="34" charset="0"/>
                        </a:rPr>
                        <a:t>Manhattan</a:t>
                      </a:r>
                      <a:endParaRPr lang="en-US" sz="1100" b="0" dirty="0">
                        <a:latin typeface="Calibri" panose="020F050202020403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b="0">
                          <a:latin typeface="Calibri" panose="020F0502020204030204" pitchFamily="34" charset="0"/>
                        </a:rPr>
                        <a:t>1,925,118</a:t>
                      </a:r>
                      <a:endParaRPr lang="en-US" sz="1100" b="0" dirty="0">
                        <a:latin typeface="Calibri" panose="020F050202020403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b="0">
                          <a:latin typeface="Calibri" panose="020F0502020204030204" pitchFamily="34" charset="0"/>
                        </a:rPr>
                        <a:t>Times Sq-42 St (129,777)</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b="0">
                          <a:latin typeface="Calibri" panose="020F0502020204030204" pitchFamily="34" charset="0"/>
                        </a:rPr>
                        <a:t>−0.3%</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noFill/>
                  </a:tcPr>
                </a:tc>
                <a:tc>
                  <a:txBody>
                    <a:bodyPr/>
                    <a:lstStyle/>
                    <a:p>
                      <a:pPr>
                        <a:buNone/>
                      </a:pPr>
                      <a:r>
                        <a:rPr lang="en-US" sz="1100" b="0">
                          <a:latin typeface="Calibri" panose="020F0502020204030204" pitchFamily="34" charset="0"/>
                        </a:rPr>
                        <a:t>+3.2%</a:t>
                      </a: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b="0">
                          <a:latin typeface="Calibri" panose="020F0502020204030204" pitchFamily="34" charset="0"/>
                        </a:rPr>
                        <a:t>−2.1%</a:t>
                      </a: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9489621"/>
                  </a:ext>
                </a:extLst>
              </a:tr>
              <a:tr h="221370">
                <a:tc>
                  <a:txBody>
                    <a:bodyPr/>
                    <a:lstStyle/>
                    <a:p>
                      <a:pPr>
                        <a:buNone/>
                      </a:pPr>
                      <a:r>
                        <a:rPr lang="en-US" sz="1100" b="0">
                          <a:latin typeface="Calibri" panose="020F0502020204030204" pitchFamily="34" charset="0"/>
                        </a:rPr>
                        <a:t>Brooklyn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b="0">
                          <a:latin typeface="Calibri" panose="020F0502020204030204" pitchFamily="34" charset="0"/>
                        </a:rPr>
                        <a:t>763,843</a:t>
                      </a:r>
                      <a:endParaRPr lang="en-US" sz="1100" b="0" dirty="0">
                        <a:latin typeface="Calibri" panose="020F050202020403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b="0">
                          <a:latin typeface="Calibri" panose="020F0502020204030204" pitchFamily="34" charset="0"/>
                        </a:rPr>
                        <a:t>Atlantic Av-Barclays Ctr (30,092)</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b="0">
                          <a:latin typeface="Calibri" panose="020F0502020204030204" pitchFamily="34" charset="0"/>
                        </a:rPr>
                        <a:t>−4.1%</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noFill/>
                  </a:tcPr>
                </a:tc>
                <a:tc>
                  <a:txBody>
                    <a:bodyPr/>
                    <a:lstStyle/>
                    <a:p>
                      <a:pPr>
                        <a:buNone/>
                      </a:pPr>
                      <a:r>
                        <a:rPr lang="en-US" sz="1100" b="0">
                          <a:latin typeface="Calibri" panose="020F0502020204030204" pitchFamily="34" charset="0"/>
                        </a:rPr>
                        <a:t>−5.7%</a:t>
                      </a: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b="0">
                          <a:latin typeface="Calibri" panose="020F0502020204030204" pitchFamily="34" charset="0"/>
                        </a:rPr>
                        <a:t>−8.7%</a:t>
                      </a: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0809532"/>
                  </a:ext>
                </a:extLst>
              </a:tr>
              <a:tr h="221370">
                <a:tc>
                  <a:txBody>
                    <a:bodyPr/>
                    <a:lstStyle/>
                    <a:p>
                      <a:pPr>
                        <a:buNone/>
                      </a:pPr>
                      <a:r>
                        <a:rPr lang="en-US" sz="1100" b="0">
                          <a:latin typeface="Calibri" panose="020F0502020204030204" pitchFamily="34" charset="0"/>
                        </a:rPr>
                        <a:t>Queens</a:t>
                      </a:r>
                      <a:endParaRPr lang="en-US" sz="1100" b="0" dirty="0">
                        <a:latin typeface="Calibri" panose="020F050202020403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b="0">
                          <a:latin typeface="Calibri" panose="020F0502020204030204" pitchFamily="34" charset="0"/>
                        </a:rPr>
                        <a:t>511,976</a:t>
                      </a:r>
                      <a:endParaRPr lang="en-US" sz="1100" b="0" dirty="0">
                        <a:latin typeface="Calibri" panose="020F050202020403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b="0">
                          <a:latin typeface="Calibri" panose="020F0502020204030204" pitchFamily="34" charset="0"/>
                        </a:rPr>
                        <a:t>Flushing-Main St (41,124)</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b="0">
                          <a:latin typeface="Calibri" panose="020F0502020204030204" pitchFamily="34" charset="0"/>
                        </a:rPr>
                        <a:t>−4.2%</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noFill/>
                  </a:tcPr>
                </a:tc>
                <a:tc>
                  <a:txBody>
                    <a:bodyPr/>
                    <a:lstStyle/>
                    <a:p>
                      <a:pPr>
                        <a:buNone/>
                      </a:pPr>
                      <a:r>
                        <a:rPr lang="en-US" sz="1100" b="0">
                          <a:latin typeface="Calibri" panose="020F0502020204030204" pitchFamily="34" charset="0"/>
                        </a:rPr>
                        <a:t>−7.1%</a:t>
                      </a: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b="0">
                          <a:latin typeface="Calibri" panose="020F0502020204030204" pitchFamily="34" charset="0"/>
                        </a:rPr>
                        <a:t>−8.6%</a:t>
                      </a: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2229745"/>
                  </a:ext>
                </a:extLst>
              </a:tr>
              <a:tr h="221370">
                <a:tc>
                  <a:txBody>
                    <a:bodyPr/>
                    <a:lstStyle/>
                    <a:p>
                      <a:pPr>
                        <a:buNone/>
                      </a:pPr>
                      <a:r>
                        <a:rPr lang="en-US" sz="1100" b="0">
                          <a:latin typeface="Calibri" panose="020F0502020204030204" pitchFamily="34" charset="0"/>
                        </a:rPr>
                        <a:t>Bronx</a:t>
                      </a:r>
                      <a:endParaRPr lang="en-US" sz="1100" b="0" dirty="0">
                        <a:latin typeface="Calibri" panose="020F050202020403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b="0">
                          <a:latin typeface="Calibri" panose="020F0502020204030204" pitchFamily="34" charset="0"/>
                        </a:rPr>
                        <a:t>236,300</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b="0">
                          <a:latin typeface="Calibri" panose="020F0502020204030204" pitchFamily="34" charset="0"/>
                        </a:rPr>
                        <a:t>161 St-Yankee Stadium (18,164)</a:t>
                      </a:r>
                      <a:endParaRPr lang="en-US" sz="1100" b="0" dirty="0">
                        <a:latin typeface="Calibri" panose="020F0502020204030204" pitchFamily="34" charset="0"/>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b="0">
                          <a:latin typeface="Calibri" panose="020F0502020204030204" pitchFamily="34" charset="0"/>
                        </a:rPr>
                        <a:t>−3.7%</a:t>
                      </a:r>
                      <a:endParaRPr lang="en-US" sz="1100" b="0" dirty="0">
                        <a:latin typeface="Calibri" panose="020F0502020204030204" pitchFamily="34" charset="0"/>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noFill/>
                  </a:tcPr>
                </a:tc>
                <a:tc>
                  <a:txBody>
                    <a:bodyPr/>
                    <a:lstStyle/>
                    <a:p>
                      <a:pPr>
                        <a:buNone/>
                      </a:pPr>
                      <a:r>
                        <a:rPr lang="en-US" sz="1100" b="0">
                          <a:latin typeface="Calibri" panose="020F0502020204030204" pitchFamily="34" charset="0"/>
                        </a:rPr>
                        <a:t>−10.3%</a:t>
                      </a:r>
                      <a:endParaRPr lang="en-US" sz="1100" b="0" dirty="0">
                        <a:latin typeface="Calibri" panose="020F0502020204030204" pitchFamily="34" charset="0"/>
                      </a:endParaRP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noFill/>
                  </a:tcPr>
                </a:tc>
                <a:tc>
                  <a:txBody>
                    <a:bodyPr/>
                    <a:lstStyle/>
                    <a:p>
                      <a:pPr>
                        <a:buNone/>
                      </a:pPr>
                      <a:r>
                        <a:rPr lang="en-US" sz="1100" b="0">
                          <a:latin typeface="Calibri" panose="020F0502020204030204" pitchFamily="34" charset="0"/>
                        </a:rPr>
                        <a:t>−9.0%</a:t>
                      </a:r>
                      <a:endParaRPr lang="en-US" sz="1100" b="0" dirty="0">
                        <a:latin typeface="Calibri" panose="020F0502020204030204" pitchFamily="34" charset="0"/>
                      </a:endParaRP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noFill/>
                  </a:tcPr>
                </a:tc>
                <a:extLst>
                  <a:ext uri="{0D108BD9-81ED-4DB2-BD59-A6C34878D82A}">
                    <a16:rowId xmlns:a16="http://schemas.microsoft.com/office/drawing/2014/main" val="2428154428"/>
                  </a:ext>
                </a:extLst>
              </a:tr>
            </a:tbl>
          </a:graphicData>
        </a:graphic>
      </p:graphicFrame>
      <p:sp>
        <p:nvSpPr>
          <p:cNvPr id="29" name="ZoneTexte 9">
            <a:extLst>
              <a:ext uri="{FF2B5EF4-FFF2-40B4-BE49-F238E27FC236}">
                <a16:creationId xmlns:a16="http://schemas.microsoft.com/office/drawing/2014/main" id="{4BD4F4BE-D3CB-898F-B47A-E0E0499EB0A8}"/>
              </a:ext>
            </a:extLst>
          </p:cNvPr>
          <p:cNvSpPr txBox="1"/>
          <p:nvPr/>
        </p:nvSpPr>
        <p:spPr>
          <a:xfrm>
            <a:off x="-589" y="6508267"/>
            <a:ext cx="7562849" cy="43088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1100" dirty="0">
                <a:ea typeface="+mn-lt"/>
                <a:cs typeface="+mn-lt"/>
              </a:rPr>
              <a:t>The weather table has 317 records with a missing </a:t>
            </a:r>
            <a:r>
              <a:rPr lang="en-US" sz="1100" dirty="0">
                <a:latin typeface="Consolas"/>
                <a:ea typeface="+mn-lt"/>
                <a:cs typeface="+mn-lt"/>
              </a:rPr>
              <a:t>condition</a:t>
            </a:r>
            <a:r>
              <a:rPr lang="en-US" sz="1100" dirty="0">
                <a:ea typeface="+mn-lt"/>
                <a:cs typeface="+mn-lt"/>
              </a:rPr>
              <a:t>, leaving 8,387 records with known conditions.</a:t>
            </a:r>
            <a:r>
              <a:rPr lang="en-US" sz="1100" dirty="0">
                <a:ea typeface="Calibri"/>
                <a:cs typeface="Calibri"/>
              </a:rPr>
              <a:t> </a:t>
            </a:r>
            <a:r>
              <a:rPr lang="en-US" sz="1100" dirty="0">
                <a:ea typeface="+mn-lt"/>
                <a:cs typeface="+mn-lt"/>
              </a:rPr>
              <a:t>We excluded those records from the weather-effect analysis because we could not classify them as dry, light rain, heavy rain, or snow.</a:t>
            </a:r>
            <a:endParaRPr lang="en-US" sz="1100" dirty="0">
              <a:ea typeface="Calibri"/>
              <a:cs typeface="Calibri"/>
            </a:endParaRPr>
          </a:p>
        </p:txBody>
      </p:sp>
      <p:sp>
        <p:nvSpPr>
          <p:cNvPr id="31" name="TextBox 11">
            <a:extLst>
              <a:ext uri="{FF2B5EF4-FFF2-40B4-BE49-F238E27FC236}">
                <a16:creationId xmlns:a16="http://schemas.microsoft.com/office/drawing/2014/main" id="{97E71FCF-C207-E821-0F52-281FB8C254C7}"/>
              </a:ext>
            </a:extLst>
          </p:cNvPr>
          <p:cNvSpPr txBox="1"/>
          <p:nvPr/>
        </p:nvSpPr>
        <p:spPr>
          <a:xfrm>
            <a:off x="21716" y="9638307"/>
            <a:ext cx="6799705"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t>Snow causes the largest estimated network-wide decrease, at 4.8%</a:t>
            </a:r>
            <a:endParaRPr lang="en-US" sz="1100" dirty="0">
              <a:ea typeface="Calibri"/>
              <a:cs typeface="Calibri"/>
            </a:endParaRPr>
          </a:p>
        </p:txBody>
      </p:sp>
      <p:sp>
        <p:nvSpPr>
          <p:cNvPr id="33" name="TextBox 17">
            <a:extLst>
              <a:ext uri="{FF2B5EF4-FFF2-40B4-BE49-F238E27FC236}">
                <a16:creationId xmlns:a16="http://schemas.microsoft.com/office/drawing/2014/main" id="{DBF798C1-976C-43B8-B217-75D0134F3E9E}"/>
              </a:ext>
            </a:extLst>
          </p:cNvPr>
          <p:cNvSpPr txBox="1"/>
          <p:nvPr/>
        </p:nvSpPr>
        <p:spPr>
          <a:xfrm>
            <a:off x="21712" y="9912618"/>
            <a:ext cx="7541137" cy="6001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t>Manhattan behaved differently: its estimated ridership was slightly higher during heavy rain (3.2%) and almost unchanged during light rain (−0.3%). This suggests weather related ridership patterns vary geographically rather than affecting every borough equally</a:t>
            </a:r>
            <a:endParaRPr lang="en-US" sz="1100" dirty="0">
              <a:ea typeface="Calibri"/>
              <a:cs typeface="Calibri"/>
            </a:endParaRPr>
          </a:p>
        </p:txBody>
      </p:sp>
      <p:sp>
        <p:nvSpPr>
          <p:cNvPr id="8" name="ZoneTexte 9">
            <a:extLst>
              <a:ext uri="{FF2B5EF4-FFF2-40B4-BE49-F238E27FC236}">
                <a16:creationId xmlns:a16="http://schemas.microsoft.com/office/drawing/2014/main" id="{F34E2F11-9CD4-E48E-F801-D00294F6289C}"/>
              </a:ext>
            </a:extLst>
          </p:cNvPr>
          <p:cNvSpPr txBox="1"/>
          <p:nvPr/>
        </p:nvSpPr>
        <p:spPr>
          <a:xfrm>
            <a:off x="91844" y="4079669"/>
            <a:ext cx="7425657" cy="307777"/>
          </a:xfrm>
          <a:prstGeom prst="rect">
            <a:avLst/>
          </a:prstGeom>
          <a:noFill/>
        </p:spPr>
        <p:txBody>
          <a:bodyPr wrap="square" lIns="91440" tIns="45720" rIns="91440" bIns="45720" rtlCol="0" anchor="t">
            <a:spAutoFit/>
          </a:bodyPr>
          <a:lstStyle/>
          <a:p>
            <a:r>
              <a:rPr lang="en-US" sz="1400" b="1" dirty="0">
                <a:ea typeface="Calibri"/>
                <a:cs typeface="Calibri"/>
              </a:rPr>
              <a:t>1. The Bronze, Silver and Gold architecture</a:t>
            </a:r>
            <a:endParaRPr lang="en-US" dirty="0"/>
          </a:p>
        </p:txBody>
      </p:sp>
      <p:sp>
        <p:nvSpPr>
          <p:cNvPr id="11" name="ZoneTexte 9">
            <a:extLst>
              <a:ext uri="{FF2B5EF4-FFF2-40B4-BE49-F238E27FC236}">
                <a16:creationId xmlns:a16="http://schemas.microsoft.com/office/drawing/2014/main" id="{ECFB3B04-48E3-5A28-0997-6128541245DC}"/>
              </a:ext>
            </a:extLst>
          </p:cNvPr>
          <p:cNvSpPr txBox="1"/>
          <p:nvPr/>
        </p:nvSpPr>
        <p:spPr>
          <a:xfrm>
            <a:off x="-6392" y="4335435"/>
            <a:ext cx="7541133" cy="600164"/>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fr-FR" sz="1100" dirty="0" err="1"/>
              <a:t>We</a:t>
            </a:r>
            <a:r>
              <a:rPr lang="fr-FR" sz="1100" dirty="0"/>
              <a:t> </a:t>
            </a:r>
            <a:r>
              <a:rPr lang="fr-FR" sz="1100" dirty="0" err="1"/>
              <a:t>adopted</a:t>
            </a:r>
            <a:r>
              <a:rPr lang="fr-FR" sz="1100" dirty="0"/>
              <a:t> a Bronze, Silver and Gold architecture to </a:t>
            </a:r>
            <a:r>
              <a:rPr lang="fr-FR" sz="1100" dirty="0" err="1"/>
              <a:t>separate</a:t>
            </a:r>
            <a:r>
              <a:rPr lang="fr-FR" sz="1100" dirty="0"/>
              <a:t> ingestion, </a:t>
            </a:r>
            <a:r>
              <a:rPr lang="fr-FR" sz="1100" dirty="0" err="1"/>
              <a:t>cleaning</a:t>
            </a:r>
            <a:r>
              <a:rPr lang="fr-FR" sz="1100" dirty="0"/>
              <a:t>, and </a:t>
            </a:r>
            <a:r>
              <a:rPr lang="fr-FR" sz="1100" dirty="0" err="1"/>
              <a:t>analysis</a:t>
            </a:r>
            <a:r>
              <a:rPr lang="fr-FR" sz="1100" dirty="0"/>
              <a:t>, </a:t>
            </a:r>
            <a:r>
              <a:rPr lang="fr-FR" sz="1100" dirty="0" err="1"/>
              <a:t>while</a:t>
            </a:r>
            <a:r>
              <a:rPr lang="fr-FR" sz="1100" dirty="0"/>
              <a:t> </a:t>
            </a:r>
            <a:r>
              <a:rPr lang="fr-FR" sz="1100" dirty="0" err="1"/>
              <a:t>preserving</a:t>
            </a:r>
            <a:r>
              <a:rPr lang="fr-FR" sz="1100" dirty="0"/>
              <a:t> the original CSV files and </a:t>
            </a:r>
            <a:r>
              <a:rPr lang="fr-FR" sz="1100" dirty="0" err="1"/>
              <a:t>making</a:t>
            </a:r>
            <a:r>
              <a:rPr lang="fr-FR" sz="1100" dirty="0"/>
              <a:t> </a:t>
            </a:r>
            <a:r>
              <a:rPr lang="fr-FR" sz="1100" dirty="0" err="1"/>
              <a:t>each</a:t>
            </a:r>
            <a:r>
              <a:rPr lang="fr-FR" sz="1100" dirty="0"/>
              <a:t> stage </a:t>
            </a:r>
            <a:r>
              <a:rPr lang="fr-FR" sz="1100" dirty="0" err="1"/>
              <a:t>reproducible</a:t>
            </a:r>
            <a:r>
              <a:rPr lang="fr-FR" sz="1100" dirty="0"/>
              <a:t>. </a:t>
            </a:r>
            <a:r>
              <a:rPr lang="fr-FR" sz="1100" dirty="0" err="1"/>
              <a:t>We</a:t>
            </a:r>
            <a:r>
              <a:rPr lang="fr-FR" sz="1100" dirty="0"/>
              <a:t> chose the station </a:t>
            </a:r>
            <a:r>
              <a:rPr lang="fr-FR" sz="1100" dirty="0" err="1"/>
              <a:t>complex</a:t>
            </a:r>
            <a:r>
              <a:rPr lang="fr-FR" sz="1100" dirty="0"/>
              <a:t> </a:t>
            </a:r>
            <a:r>
              <a:rPr lang="fr-FR" sz="1100" dirty="0" err="1"/>
              <a:t>rather</a:t>
            </a:r>
            <a:r>
              <a:rPr lang="fr-FR" sz="1100" dirty="0"/>
              <a:t> </a:t>
            </a:r>
            <a:r>
              <a:rPr lang="fr-FR" sz="1100" dirty="0" err="1"/>
              <a:t>than</a:t>
            </a:r>
            <a:r>
              <a:rPr lang="fr-FR" sz="1100" dirty="0"/>
              <a:t> </a:t>
            </a:r>
            <a:r>
              <a:rPr lang="fr-FR" sz="1100" dirty="0" err="1"/>
              <a:t>individual</a:t>
            </a:r>
            <a:r>
              <a:rPr lang="fr-FR" sz="1100" dirty="0"/>
              <a:t> platforms as the unit of </a:t>
            </a:r>
            <a:r>
              <a:rPr lang="fr-FR" sz="1100" dirty="0" err="1"/>
              <a:t>analysis</a:t>
            </a:r>
            <a:r>
              <a:rPr lang="fr-FR" sz="1100" dirty="0"/>
              <a:t> </a:t>
            </a:r>
            <a:r>
              <a:rPr lang="fr-FR" sz="1100" dirty="0" err="1"/>
              <a:t>because</a:t>
            </a:r>
            <a:r>
              <a:rPr lang="fr-FR" sz="1100" dirty="0"/>
              <a:t> the </a:t>
            </a:r>
            <a:r>
              <a:rPr lang="fr-FR" sz="1100" dirty="0" err="1"/>
              <a:t>ridership</a:t>
            </a:r>
            <a:r>
              <a:rPr lang="fr-FR" sz="1100" dirty="0"/>
              <a:t> </a:t>
            </a:r>
            <a:r>
              <a:rPr lang="fr-FR" sz="1100" dirty="0" err="1"/>
              <a:t>dataset</a:t>
            </a:r>
            <a:r>
              <a:rPr lang="fr-FR" sz="1100" dirty="0"/>
              <a:t> reports </a:t>
            </a:r>
            <a:r>
              <a:rPr lang="fr-FR" sz="1100" dirty="0" err="1"/>
              <a:t>passengers</a:t>
            </a:r>
            <a:r>
              <a:rPr lang="fr-FR" sz="1100" dirty="0"/>
              <a:t> at the </a:t>
            </a:r>
            <a:r>
              <a:rPr lang="fr-FR" sz="1100" dirty="0" err="1"/>
              <a:t>complex</a:t>
            </a:r>
            <a:r>
              <a:rPr lang="fr-FR" sz="1100" dirty="0"/>
              <a:t> </a:t>
            </a:r>
            <a:r>
              <a:rPr lang="fr-FR" sz="1100" dirty="0" err="1"/>
              <a:t>level</a:t>
            </a:r>
            <a:r>
              <a:rPr lang="fr-FR" sz="1100" dirty="0"/>
              <a:t>. </a:t>
            </a:r>
            <a:endParaRPr lang="en-US" sz="1100" dirty="0">
              <a:ea typeface="+mn-lt"/>
              <a:cs typeface="+mn-lt"/>
            </a:endParaRPr>
          </a:p>
        </p:txBody>
      </p:sp>
    </p:spTree>
    <p:extLst>
      <p:ext uri="{BB962C8B-B14F-4D97-AF65-F5344CB8AC3E}">
        <p14:creationId xmlns:p14="http://schemas.microsoft.com/office/powerpoint/2010/main" val="344045745"/>
      </p:ext>
    </p:extLst>
  </p:cSld>
  <p:clrMapOvr>
    <a:masterClrMapping/>
  </p:clrMapOvr>
</p:sld>
</file>

<file path=ppt/theme/theme1.xml><?xml version="1.0" encoding="utf-8"?>
<a:theme xmlns:a="http://schemas.openxmlformats.org/drawingml/2006/main" name="NYC Subway Proposal">
  <a:themeElements>
    <a:clrScheme name="NYC Subway Proposal">
      <a:dk1>
        <a:srgbClr val="1D2733"/>
      </a:dk1>
      <a:lt1>
        <a:srgbClr val="FFFFFF"/>
      </a:lt1>
      <a:dk2>
        <a:srgbClr val="4A5866"/>
      </a:dk2>
      <a:lt2>
        <a:srgbClr val="F1F4F6"/>
      </a:lt2>
      <a:accent1>
        <a:srgbClr val="E07A1F"/>
      </a:accent1>
      <a:accent2>
        <a:srgbClr val="3C8D5A"/>
      </a:accent2>
      <a:accent3>
        <a:srgbClr val="8A6BB8"/>
      </a:accent3>
      <a:accent4>
        <a:srgbClr val="7F8A96"/>
      </a:accent4>
      <a:accent5>
        <a:srgbClr val="C8453B"/>
      </a:accent5>
      <a:accent6>
        <a:srgbClr val="2B7A9B"/>
      </a:accent6>
      <a:hlink>
        <a:srgbClr val="2B7A9B"/>
      </a:hlink>
      <a:folHlink>
        <a:srgbClr val="8A6BB8"/>
      </a:folHlink>
    </a:clrScheme>
    <a:fontScheme name="NYC Subway Propos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786</TotalTime>
  <Words>1864</Words>
  <Application>Microsoft Office PowerPoint</Application>
  <PresentationFormat>Personnalisé</PresentationFormat>
  <Paragraphs>161</Paragraphs>
  <Slides>3</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vt:i4>
      </vt:variant>
    </vt:vector>
  </HeadingPairs>
  <TitlesOfParts>
    <vt:vector size="9" baseType="lpstr">
      <vt:lpstr>Aptos Narrow</vt:lpstr>
      <vt:lpstr>Arial</vt:lpstr>
      <vt:lpstr>Arial MT</vt:lpstr>
      <vt:lpstr>Calibri</vt:lpstr>
      <vt:lpstr>Consolas</vt:lpstr>
      <vt:lpstr>NYC Subway Proposal</vt:lpstr>
      <vt:lpstr>Critical Stations and Live Disruptions in the New York City Subway</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NYC Subway project proposal</dc:title>
  <dc:subject>DISS-DPA one-page proposal</dc:subject>
  <dc:creator>DISS-DPA group</dc:creator>
  <cp:lastModifiedBy>pc</cp:lastModifiedBy>
  <cp:revision>212</cp:revision>
  <dcterms:created xsi:type="dcterms:W3CDTF">2026-10-09T19:24:22Z</dcterms:created>
  <dcterms:modified xsi:type="dcterms:W3CDTF">2026-10-19T19:47:43Z</dcterms:modified>
</cp:coreProperties>
</file>